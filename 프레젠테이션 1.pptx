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85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86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7" r:id="rId19"/>
    <p:sldId id="272" r:id="rId20"/>
    <p:sldId id="278" r:id="rId21"/>
    <p:sldId id="279" r:id="rId22"/>
    <p:sldId id="273" r:id="rId23"/>
    <p:sldId id="281" r:id="rId24"/>
    <p:sldId id="283" r:id="rId25"/>
    <p:sldId id="284" r:id="rId26"/>
    <p:sldId id="285" r:id="rId27"/>
    <p:sldId id="275" r:id="rId28"/>
    <p:sldId id="288" r:id="rId29"/>
    <p:sldId id="289" r:id="rId30"/>
    <p:sldId id="280" r:id="rId31"/>
    <p:sldId id="290" r:id="rId32"/>
    <p:sldId id="277" r:id="rId33"/>
    <p:sldId id="291" r:id="rId34"/>
    <p:sldId id="292" r:id="rId35"/>
    <p:sldId id="282" r:id="rId36"/>
    <p:sldId id="293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 horzBarState="maximized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presProps" Target="presProps.xml"  /><Relationship Id="rId39" Type="http://schemas.openxmlformats.org/officeDocument/2006/relationships/viewProps" Target="viewProps.xml"  /><Relationship Id="rId4" Type="http://schemas.openxmlformats.org/officeDocument/2006/relationships/slide" Target="slides/slide2.xml"  /><Relationship Id="rId40" Type="http://schemas.openxmlformats.org/officeDocument/2006/relationships/theme" Target="theme/theme1.xml"  /><Relationship Id="rId41" Type="http://schemas.openxmlformats.org/officeDocument/2006/relationships/tableStyles" Target="tableStyles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2.xml"  /><Relationship Id="rId2" Type="http://schemas.openxmlformats.org/officeDocument/2006/relationships/notesMaster" Target="../notesMasters/notesMaster1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slide" Target="../slides/slide34.xml"  /><Relationship Id="rId2" Type="http://schemas.openxmlformats.org/officeDocument/2006/relationships/notesMaster" Target="../notesMasters/notesMaster1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slide" Target="../slides/slide3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29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30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31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32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33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34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2143125" y="684521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B26CD33-4337-4529-948A-94F6960B2374}" type="slidenum">
              <a:rPr lang="en-US" altLang="ko-KR"/>
              <a:pPr lvl="0">
                <a:defRPr/>
              </a:pPr>
              <a:t>35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2_빈화면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335360" y="332656"/>
            <a:ext cx="1152128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335360" y="836712"/>
            <a:ext cx="1152128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>
            <a:off x="335360" y="6597352"/>
            <a:ext cx="11521280" cy="0"/>
          </a:xfrm>
          <a:prstGeom prst="line">
            <a:avLst/>
          </a:prstGeom>
          <a:ln w="3175">
            <a:solidFill>
              <a:srgbClr val="6872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359491" y="6542032"/>
            <a:ext cx="262596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2FECCACC-60ED-4580-AB4B-3C07270897C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239348" y="92644"/>
            <a:ext cx="3264362" cy="22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ko-KR" sz="1100" b="1">
                <a:solidFill>
                  <a:srgbClr val="663300"/>
                </a:solidFill>
                <a:latin typeface="+mn-ea"/>
              </a:rPr>
              <a:t>Mobile App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Storyboard</a:t>
            </a:r>
            <a:endParaRPr lang="en-US" altLang="ko-KR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3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3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3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3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3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3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3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3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3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3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3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3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3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3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3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13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13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13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13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13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13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13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13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13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13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13.xml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13.xml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1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01.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로그인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1881887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8366755" y="888750"/>
          <a:ext cx="3209745" cy="5604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09"/>
                <a:gridCol w="2903735"/>
              </a:tblGrid>
              <a:tr h="370839">
                <a:tc gridSpan="2"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 sz="1800" b="0" i="0"/>
                      </a:pPr>
                      <a:r>
                        <a:rPr lang="en-US" altLang="ko-KR" sz="1100" b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altLang="ko-KR" sz="11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617220">
                <a:tc gridSpan="2">
                  <a:txBody>
                    <a:bodyPr vert="horz" lIns="91440" tIns="45720" rIns="91440" bIns="45720" anchor="ctr" anchorCtr="0"/>
                    <a:p>
                      <a:pPr marL="171450" marR="0" lvl="0" indent="-1714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§"/>
                        <a:defRPr sz="1800" b="0" i="0"/>
                      </a:pPr>
                      <a:r>
                        <a:rPr lang="ko-KR" altLang="en-US" sz="800" b="0"/>
                        <a:t>로그인 화면</a:t>
                      </a:r>
                      <a:endParaRPr lang="ko-KR" altLang="en-US" sz="800" b="0"/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 sz="1800" b="0" i="0"/>
                      </a:pP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다른 기기에서 중복 로그인 불가능</a:t>
                      </a:r>
                      <a:endParaRPr lang="ko-KR" altLang="en-US" sz="800" b="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 sz="1800" b="0" i="0"/>
                      </a:pP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새 기기에서 로그인 시 마지막으로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로그인된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 sz="1800" b="0" i="0"/>
                      </a:pP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기기에서 자동 로그아웃 처리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70840">
                <a:tc gridSpan="2">
                  <a:txBody>
                    <a:bodyPr vert="horz" lIns="91440" tIns="45720" rIns="91440" bIns="45720" anchor="ctr" anchorCtr="0"/>
                    <a:p>
                      <a:pPr lvl="0" algn="ctr">
                        <a:spcBef>
                          <a:spcPts val="100"/>
                        </a:spcBef>
                        <a:defRPr sz="1800" b="0" i="0"/>
                      </a:pPr>
                      <a:r>
                        <a:rPr lang="en-US" altLang="ko-KR" sz="1100" b="1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altLang="ko-KR" sz="11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54176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1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일반회원 계정 입력 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Tap</a:t>
                      </a:r>
                      <a:endParaRPr lang="en-US" altLang="ko-KR" sz="800" b="1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선택 시 일반회원 로그인 영역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2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간편로그인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선택시 해당 간편로그인 이동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3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아이디 입력 영역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선택 시 키패드 노출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4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비밀번호 입력 영역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선택 시 키패드 노출</a:t>
                      </a:r>
                      <a:endParaRPr lang="ko-KR" altLang="en-US" sz="800" b="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입력 내용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*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표기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67056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5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자동 로그인 </a:t>
                      </a:r>
                      <a:r>
                        <a:rPr lang="en-US" altLang="ko-KR" sz="800" b="1" baseline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1" baseline="0">
                          <a:solidFill>
                            <a:schemeClr val="tx1"/>
                          </a:solidFill>
                        </a:rPr>
                        <a:t>체크박스</a:t>
                      </a:r>
                      <a:endParaRPr lang="ko-KR" altLang="en-US" sz="800" b="1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800" baseline="0">
                          <a:latin typeface="+mn-ea"/>
                          <a:ea typeface="+mn-ea"/>
                        </a:rPr>
                        <a:t>1) Default :</a:t>
                      </a:r>
                      <a:r>
                        <a:rPr lang="ko-KR" altLang="en-US" sz="800" baseline="0">
                          <a:latin typeface="+mn-ea"/>
                          <a:ea typeface="+mn-ea"/>
                        </a:rPr>
                        <a:t>활성화</a:t>
                      </a:r>
                      <a:r>
                        <a:rPr lang="en-US" altLang="ko-KR" sz="800" baseline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aseline="0">
                          <a:latin typeface="+mn-ea"/>
                          <a:ea typeface="+mn-ea"/>
                        </a:rPr>
                        <a:t>체크</a:t>
                      </a:r>
                      <a:r>
                        <a:rPr lang="en-US" altLang="ko-KR" sz="800" baseline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aseline="0">
                          <a:latin typeface="+mn-ea"/>
                          <a:ea typeface="+mn-ea"/>
                        </a:rPr>
                        <a:t>상태</a:t>
                      </a:r>
                      <a:endParaRPr lang="ko-KR" altLang="en-US" sz="800" baseline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aseline="0"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800" baseline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aseline="0">
                          <a:latin typeface="+mn-ea"/>
                          <a:ea typeface="+mn-ea"/>
                        </a:rPr>
                        <a:t>영역 선택 시 비활성화 상태로 변경</a:t>
                      </a:r>
                      <a:endParaRPr lang="ko-KR" altLang="en-US" sz="800" baseline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800" baseline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800" baseline="0">
                          <a:latin typeface="+mn-ea"/>
                          <a:ea typeface="+mn-ea"/>
                        </a:rPr>
                        <a:t>활성화 상태로 로그인 할 경우 이후</a:t>
                      </a:r>
                      <a:endParaRPr lang="ko-KR" altLang="en-US" sz="800" baseline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aseline="0">
                          <a:latin typeface="+mn-ea"/>
                          <a:ea typeface="+mn-ea"/>
                        </a:rPr>
                        <a:t>   앱 실행 시 자동으로 로그인</a:t>
                      </a:r>
                      <a:r>
                        <a:rPr lang="en-US" altLang="ko-KR" sz="800" baseline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aseline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800" baseline="0">
                        <a:latin typeface="+mn-ea"/>
                        <a:ea typeface="+mn-ea"/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7010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6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/>
                        <a:t>로그인 버튼</a:t>
                      </a:r>
                      <a:endParaRPr lang="ko-KR" altLang="en-US" sz="800" b="1"/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 시 메인 화면 이동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계정 입력 오류 시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토스트 메시지 노출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이메일 형식이 맞지 않을 경우 토스트  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메세지 노출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7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lang="en-US" altLang="ko-KR" sz="800" b="1" kern="0">
                          <a:latin typeface="+mn-ea"/>
                        </a:rPr>
                        <a:t>ID/PW </a:t>
                      </a:r>
                      <a:r>
                        <a:rPr lang="ko-KR" altLang="en-US" sz="800" b="1" kern="0">
                          <a:latin typeface="+mn-ea"/>
                        </a:rPr>
                        <a:t>찾기</a:t>
                      </a:r>
                      <a:r>
                        <a:rPr lang="en-US" altLang="ko-KR" sz="800" b="1" kern="1200" baseline="0">
                          <a:latin typeface="+mn-lt"/>
                        </a:rPr>
                        <a:t> </a:t>
                      </a:r>
                      <a:r>
                        <a:rPr lang="ko-KR" altLang="en-US" sz="800" b="1" kern="1200" baseline="0">
                          <a:latin typeface="+mn-lt"/>
                        </a:rPr>
                        <a:t>버튼</a:t>
                      </a:r>
                      <a:endParaRPr lang="ko-KR" altLang="en-US" sz="800" b="1" kern="1200" baseline="0">
                        <a:latin typeface="+mn-lt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/>
                      </a:pPr>
                      <a:r>
                        <a:rPr lang="en-US" altLang="ko-KR" sz="800" b="0" kern="1200" baseline="0">
                          <a:latin typeface="+mn-lt"/>
                        </a:rPr>
                        <a:t>- </a:t>
                      </a:r>
                      <a:r>
                        <a:rPr lang="ko-KR" altLang="en-US" sz="800" b="0" kern="1200" baseline="0">
                          <a:latin typeface="+mn-lt"/>
                        </a:rPr>
                        <a:t>선택 시 </a:t>
                      </a:r>
                      <a:r>
                        <a:rPr lang="en-US" altLang="ko-KR" sz="800" kern="0">
                          <a:latin typeface="+mn-ea"/>
                        </a:rPr>
                        <a:t>ID/PW </a:t>
                      </a:r>
                      <a:r>
                        <a:rPr lang="ko-KR" altLang="en-US" sz="800" kern="0">
                          <a:latin typeface="+mn-ea"/>
                        </a:rPr>
                        <a:t>찾기</a:t>
                      </a:r>
                      <a:r>
                        <a:rPr lang="ko-KR" altLang="en-US" sz="800" b="0" kern="0" baseline="0">
                          <a:latin typeface="+mn-ea"/>
                        </a:rPr>
                        <a:t> 화면으로 이동</a:t>
                      </a:r>
                      <a:endParaRPr lang="ko-KR" altLang="en-US" sz="800" kern="0">
                        <a:latin typeface="+mn-ea"/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8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/>
                        <a:t>회원가입 버튼</a:t>
                      </a:r>
                      <a:endParaRPr lang="ko-KR" altLang="en-US" sz="800" b="1"/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/>
                        <a:t>- </a:t>
                      </a:r>
                      <a:r>
                        <a:rPr lang="ko-KR" altLang="en-US" sz="800" b="0"/>
                        <a:t>회원가입 선택 화면으로 이동</a:t>
                      </a:r>
                      <a:endParaRPr lang="en-US" altLang="ko-KR" sz="800" b="1"/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57912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9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비회원 입장 버튼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 시 내주변 화면으로 이동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이동되는 내주변 화면에서 하단 메뉴 </a:t>
                      </a:r>
                      <a:endParaRPr lang="ko-KR" altLang="en-US" sz="800" b="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  선택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</a:rPr>
                        <a:t>시 로그인 화면으로 이동</a:t>
                      </a:r>
                      <a:endParaRPr lang="en-US" altLang="ko-KR" sz="800" b="0" baseline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사각형: 둥근 위쪽 모서리 4"/>
          <p:cNvSpPr/>
          <p:nvPr/>
        </p:nvSpPr>
        <p:spPr>
          <a:xfrm>
            <a:off x="2091386" y="2182198"/>
            <a:ext cx="2480474" cy="311225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091386" y="2493423"/>
            <a:ext cx="2480474" cy="1286164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" name="Shape 184"/>
          <p:cNvSpPr/>
          <p:nvPr/>
        </p:nvSpPr>
        <p:spPr>
          <a:xfrm>
            <a:off x="2830643" y="2273387"/>
            <a:ext cx="936104" cy="174791"/>
          </a:xfrm>
          <a:prstGeom prst="rect">
            <a:avLst/>
          </a:prstGeom>
          <a:ln w="12700">
            <a:miter/>
          </a:ln>
        </p:spPr>
        <p:txBody>
          <a:bodyPr wrap="square" lIns="0" tIns="0" rIns="0" bIns="0" anchor="ctr">
            <a:spAutoFit/>
          </a:bodyPr>
          <a:lstStyle>
            <a:lvl1pPr algn="ctr">
              <a:defRPr sz="7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defTabSz="906145" latinLnBrk="0" hangingPunct="0">
              <a:lnSpc>
                <a:spcPct val="120000"/>
              </a:lnSpc>
              <a:defRPr/>
            </a:pPr>
            <a:r>
              <a:rPr lang="ko-KR" altLang="en-US" sz="1050" kern="0">
                <a:solidFill>
                  <a:schemeClr val="tx1"/>
                </a:solidFill>
              </a:rPr>
              <a:t>일반회원</a:t>
            </a:r>
            <a:endParaRPr lang="en-US" sz="1050" kern="0">
              <a:solidFill>
                <a:schemeClr val="tx1"/>
              </a:solidFill>
            </a:endParaRPr>
          </a:p>
        </p:txBody>
      </p:sp>
      <p:sp>
        <p:nvSpPr>
          <p:cNvPr id="39" name="Shape 150"/>
          <p:cNvSpPr/>
          <p:nvPr/>
        </p:nvSpPr>
        <p:spPr>
          <a:xfrm>
            <a:off x="2255293" y="2709257"/>
            <a:ext cx="2086805" cy="265116"/>
          </a:xfrm>
          <a:prstGeom prst="rect">
            <a:avLst/>
          </a:prstGeom>
          <a:solidFill>
            <a:schemeClr val="bg1"/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defTabSz="906145" latinLnBrk="0" hangingPunct="0">
              <a:lnSpc>
                <a:spcPct val="120000"/>
              </a:lnSpc>
              <a:defRPr sz="1000"/>
            </a:pPr>
            <a:r>
              <a:rPr lang="ko-KR" altLang="en-US" sz="800" kern="0">
                <a:solidFill>
                  <a:schemeClr val="bg1">
                    <a:lumMod val="65000"/>
                  </a:schemeClr>
                </a:solidFill>
                <a:latin typeface="+mn-ea"/>
              </a:rPr>
              <a:t>아이디</a:t>
            </a:r>
            <a:r>
              <a:rPr lang="en-US" altLang="ko-KR" sz="800" kern="0">
                <a:solidFill>
                  <a:schemeClr val="bg1">
                    <a:lumMod val="65000"/>
                  </a:schemeClr>
                </a:solidFill>
                <a:latin typeface="+mn-ea"/>
              </a:rPr>
              <a:t>(</a:t>
            </a:r>
            <a:r>
              <a:rPr lang="ko-KR" altLang="en-US" sz="800" kern="0">
                <a:solidFill>
                  <a:schemeClr val="bg1">
                    <a:lumMod val="65000"/>
                  </a:schemeClr>
                </a:solidFill>
                <a:latin typeface="+mn-ea"/>
              </a:rPr>
              <a:t>이메일</a:t>
            </a:r>
            <a:r>
              <a:rPr lang="en-US" altLang="ko-KR" sz="800" kern="0">
                <a:solidFill>
                  <a:schemeClr val="bg1">
                    <a:lumMod val="65000"/>
                  </a:schemeClr>
                </a:solidFill>
                <a:latin typeface="+mn-ea"/>
              </a:rPr>
              <a:t>)</a:t>
            </a:r>
            <a:r>
              <a:rPr lang="ko-KR" altLang="en-US" sz="800" kern="0">
                <a:solidFill>
                  <a:schemeClr val="bg1">
                    <a:lumMod val="65000"/>
                  </a:schemeClr>
                </a:solidFill>
                <a:latin typeface="+mn-ea"/>
              </a:rPr>
              <a:t>를 입력해주세요</a:t>
            </a:r>
            <a:r>
              <a:rPr lang="en-US" altLang="ko-KR" sz="800" kern="0">
                <a:solidFill>
                  <a:schemeClr val="bg1">
                    <a:lumMod val="65000"/>
                  </a:schemeClr>
                </a:solidFill>
                <a:latin typeface="+mn-ea"/>
              </a:rPr>
              <a:t>.</a:t>
            </a:r>
            <a:endParaRPr lang="ko-KR" altLang="en-US" sz="800" kern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40" name="Shape 150"/>
          <p:cNvSpPr/>
          <p:nvPr/>
        </p:nvSpPr>
        <p:spPr>
          <a:xfrm>
            <a:off x="2255293" y="3091876"/>
            <a:ext cx="2086805" cy="265116"/>
          </a:xfrm>
          <a:prstGeom prst="rect">
            <a:avLst/>
          </a:prstGeom>
          <a:solidFill>
            <a:schemeClr val="bg1"/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defTabSz="906145" latinLnBrk="0" hangingPunct="0">
              <a:lnSpc>
                <a:spcPct val="120000"/>
              </a:lnSpc>
              <a:defRPr sz="1000"/>
            </a:pPr>
            <a:r>
              <a:rPr lang="ko-KR" altLang="en-US" sz="800" kern="0">
                <a:solidFill>
                  <a:schemeClr val="bg1">
                    <a:lumMod val="65000"/>
                  </a:schemeClr>
                </a:solidFill>
                <a:latin typeface="+mn-ea"/>
              </a:rPr>
              <a:t>패스워드를 입력해주세요</a:t>
            </a:r>
            <a:r>
              <a:rPr lang="en-US" altLang="ko-KR" sz="800" kern="0">
                <a:solidFill>
                  <a:schemeClr val="bg1">
                    <a:lumMod val="65000"/>
                  </a:schemeClr>
                </a:solidFill>
                <a:latin typeface="+mn-ea"/>
              </a:rPr>
              <a:t>.</a:t>
            </a:r>
            <a:endParaRPr lang="ko-KR" altLang="en-US" sz="800" kern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42" name="Shape 150"/>
          <p:cNvSpPr/>
          <p:nvPr/>
        </p:nvSpPr>
        <p:spPr>
          <a:xfrm>
            <a:off x="2195548" y="3496959"/>
            <a:ext cx="173966" cy="179367"/>
          </a:xfrm>
          <a:prstGeom prst="rect">
            <a:avLst/>
          </a:prstGeom>
          <a:solidFill>
            <a:schemeClr val="bg1"/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defTabSz="906145" latinLnBrk="0" hangingPunct="0">
              <a:lnSpc>
                <a:spcPct val="120000"/>
              </a:lnSpc>
              <a:defRPr sz="1000"/>
            </a:pPr>
            <a:endParaRPr lang="ko-KR" altLang="en-US" kern="0"/>
          </a:p>
        </p:txBody>
      </p:sp>
      <p:sp>
        <p:nvSpPr>
          <p:cNvPr id="43" name="Shape 186"/>
          <p:cNvSpPr/>
          <p:nvPr/>
        </p:nvSpPr>
        <p:spPr>
          <a:xfrm>
            <a:off x="2408119" y="3531533"/>
            <a:ext cx="827136" cy="166199"/>
          </a:xfrm>
          <a:prstGeom prst="rect">
            <a:avLst/>
          </a:prstGeom>
          <a:ln w="12700">
            <a:miter/>
          </a:ln>
        </p:spPr>
        <p:txBody>
          <a:bodyPr wrap="square" lIns="0" tIns="0" rIns="0" bIns="0" anchor="ctr">
            <a:spAutoFit/>
          </a:bodyPr>
          <a:lstStyle>
            <a:lvl1pPr algn="ctr">
              <a:defRPr sz="7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algn="l" defTabSz="906145" latinLnBrk="0" hangingPunct="0">
              <a:lnSpc>
                <a:spcPct val="120000"/>
              </a:lnSpc>
              <a:defRPr/>
            </a:pPr>
            <a:r>
              <a:rPr lang="ko-KR" altLang="en-US" sz="900" kern="0">
                <a:solidFill>
                  <a:schemeClr val="tx1">
                    <a:lumMod val="50000"/>
                    <a:lumOff val="50000"/>
                  </a:schemeClr>
                </a:solidFill>
              </a:rPr>
              <a:t>자동 로그인</a:t>
            </a:r>
            <a:endParaRPr sz="900" ker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Check Mark"/>
          <p:cNvSpPr/>
          <p:nvPr/>
        </p:nvSpPr>
        <p:spPr>
          <a:xfrm>
            <a:off x="2238244" y="3464094"/>
            <a:ext cx="140523" cy="167916"/>
          </a:xfrm>
          <a:custGeom>
            <a:avLst/>
            <a:gdLst>
              <a:gd name="connsiteX0" fmla="*/ 0 w 488950"/>
              <a:gd name="connsiteY0" fmla="*/ 263776 h 455613"/>
              <a:gd name="connsiteX1" fmla="*/ 87577 w 488950"/>
              <a:gd name="connsiteY1" fmla="*/ 326031 h 455613"/>
              <a:gd name="connsiteX2" fmla="*/ 174922 w 488950"/>
              <a:gd name="connsiteY2" fmla="*/ 455613 h 455613"/>
              <a:gd name="connsiteX3" fmla="*/ 360242 w 488950"/>
              <a:gd name="connsiteY3" fmla="*/ 105372 h 455613"/>
              <a:gd name="connsiteX4" fmla="*/ 466998 w 488950"/>
              <a:gd name="connsiteY4" fmla="*/ 15910 h 455613"/>
              <a:gd name="connsiteX5" fmla="*/ 488950 w 488950"/>
              <a:gd name="connsiteY5" fmla="*/ 0 h 45561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8950" h="455613">
                <a:moveTo>
                  <a:pt x="0" y="263776"/>
                </a:moveTo>
                <a:cubicBezTo>
                  <a:pt x="38589" y="286833"/>
                  <a:pt x="63083" y="292828"/>
                  <a:pt x="87577" y="326031"/>
                </a:cubicBezTo>
                <a:cubicBezTo>
                  <a:pt x="121544" y="372145"/>
                  <a:pt x="156667" y="413879"/>
                  <a:pt x="174922" y="455613"/>
                </a:cubicBezTo>
                <a:cubicBezTo>
                  <a:pt x="200571" y="340557"/>
                  <a:pt x="215360" y="244869"/>
                  <a:pt x="360242" y="105372"/>
                </a:cubicBezTo>
                <a:cubicBezTo>
                  <a:pt x="382657" y="83929"/>
                  <a:pt x="441580" y="44040"/>
                  <a:pt x="466998" y="15910"/>
                </a:cubicBezTo>
                <a:cubicBezTo>
                  <a:pt x="475317" y="6687"/>
                  <a:pt x="474855" y="461"/>
                  <a:pt x="488950" y="0"/>
                </a:cubicBezTo>
              </a:path>
            </a:pathLst>
          </a:custGeom>
          <a:noFill/>
          <a:ln w="38100" cap="flat" cmpd="sng" algn="ctr">
            <a:solidFill>
              <a:srgbClr val="c00000"/>
            </a:solidFill>
            <a:prstDash val="solid"/>
            <a:round/>
            <a:headEnd w="med" len="med"/>
            <a:tailEnd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900">
              <a:solidFill>
                <a:srgbClr val="262626"/>
              </a:solidFill>
              <a:latin typeface="Calibri"/>
              <a:cs typeface="Calibri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2045527" y="2155521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1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2166806" y="2655600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3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2064692" y="3502148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5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2166806" y="3056993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4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2715106" y="1268760"/>
            <a:ext cx="1239708" cy="628317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tx1"/>
                </a:solidFill>
              </a:rPr>
              <a:t>로고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71" name="직선 연결선 70"/>
          <p:cNvCxnSpPr/>
          <p:nvPr/>
        </p:nvCxnSpPr>
        <p:spPr>
          <a:xfrm>
            <a:off x="1892449" y="2052077"/>
            <a:ext cx="2970562" cy="8771"/>
          </a:xfrm>
          <a:prstGeom prst="line">
            <a:avLst/>
          </a:prstGeom>
          <a:ln w="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Shape 184"/>
          <p:cNvSpPr/>
          <p:nvPr/>
        </p:nvSpPr>
        <p:spPr>
          <a:xfrm>
            <a:off x="3204028" y="3514725"/>
            <a:ext cx="1235788" cy="190500"/>
          </a:xfrm>
          <a:prstGeom prst="rect">
            <a:avLst/>
          </a:prstGeom>
          <a:ln w="12700">
            <a:miter/>
          </a:ln>
        </p:spPr>
        <p:txBody>
          <a:bodyPr wrap="square" lIns="0" tIns="0" rIns="0" bIns="0" anchor="ctr">
            <a:spAutoFit/>
          </a:bodyPr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50" b="1" i="0" u="none" strike="noStrike" kern="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간편로그인</a:t>
            </a:r>
            <a:r>
              <a:rPr xmlns:mc="http://schemas.openxmlformats.org/markup-compatibility/2006" xmlns:hp="http://schemas.haansoft.com/office/presentation/8.0" kumimoji="0" lang="en-US" altLang="ko-KR" sz="1050" b="1" i="0" u="none" strike="noStrike" kern="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3</a:t>
            </a:r>
            <a:r>
              <a:rPr xmlns:mc="http://schemas.openxmlformats.org/markup-compatibility/2006" xmlns:hp="http://schemas.haansoft.com/office/presentation/8.0" kumimoji="0" lang="ko-KR" altLang="en-US" sz="1050" b="1" i="0" u="none" strike="noStrike" kern="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개</a:t>
            </a:r>
            <a:endParaRPr xmlns:mc="http://schemas.openxmlformats.org/markup-compatibility/2006" xmlns:hp="http://schemas.haansoft.com/office/presentation/8.0" kumimoji="0" lang="ko-KR" altLang="en-US" sz="105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89" name="타원 35"/>
          <p:cNvSpPr/>
          <p:nvPr/>
        </p:nvSpPr>
        <p:spPr>
          <a:xfrm>
            <a:off x="3251708" y="3548052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96" name="Shape 150"/>
          <p:cNvSpPr/>
          <p:nvPr/>
        </p:nvSpPr>
        <p:spPr>
          <a:xfrm>
            <a:off x="2121701" y="3861519"/>
            <a:ext cx="2265784" cy="265116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algn="ctr" defTabSz="906145" latinLnBrk="0" hangingPunct="0">
              <a:lnSpc>
                <a:spcPct val="120000"/>
              </a:lnSpc>
              <a:defRPr sz="1000"/>
            </a:pPr>
            <a:r>
              <a:rPr lang="ko-KR" altLang="en-US" sz="900" kern="0">
                <a:latin typeface="+mn-ea"/>
              </a:rPr>
              <a:t>로그인</a:t>
            </a:r>
            <a:endParaRPr lang="ko-KR" altLang="en-US" sz="900" kern="0">
              <a:latin typeface="+mn-ea"/>
            </a:endParaRPr>
          </a:p>
        </p:txBody>
      </p:sp>
      <p:sp>
        <p:nvSpPr>
          <p:cNvPr id="97" name="Shape 150"/>
          <p:cNvSpPr/>
          <p:nvPr/>
        </p:nvSpPr>
        <p:spPr>
          <a:xfrm>
            <a:off x="2121702" y="4317624"/>
            <a:ext cx="1058568" cy="265116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algn="ctr" defTabSz="906145" latinLnBrk="0" hangingPunct="0">
              <a:lnSpc>
                <a:spcPct val="120000"/>
              </a:lnSpc>
              <a:defRPr sz="1000"/>
            </a:pPr>
            <a:r>
              <a:rPr lang="en-US" altLang="ko-KR" sz="900" kern="0">
                <a:latin typeface="+mn-ea"/>
              </a:rPr>
              <a:t>ID/PW </a:t>
            </a:r>
            <a:r>
              <a:rPr lang="ko-KR" altLang="en-US" sz="900" kern="0">
                <a:latin typeface="+mn-ea"/>
              </a:rPr>
              <a:t>찾기</a:t>
            </a:r>
            <a:endParaRPr lang="ko-KR" altLang="en-US" sz="900" kern="0">
              <a:latin typeface="+mn-ea"/>
            </a:endParaRPr>
          </a:p>
        </p:txBody>
      </p:sp>
      <p:sp>
        <p:nvSpPr>
          <p:cNvPr id="98" name="Shape 150"/>
          <p:cNvSpPr/>
          <p:nvPr/>
        </p:nvSpPr>
        <p:spPr>
          <a:xfrm>
            <a:off x="3309810" y="4317624"/>
            <a:ext cx="1058568" cy="265116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algn="ctr" defTabSz="906145" latinLnBrk="0" hangingPunct="0">
              <a:lnSpc>
                <a:spcPct val="120000"/>
              </a:lnSpc>
              <a:defRPr sz="1000"/>
            </a:pPr>
            <a:r>
              <a:rPr lang="ko-KR" altLang="en-US" kern="0"/>
              <a:t>회원가입</a:t>
            </a:r>
            <a:endParaRPr lang="ko-KR" altLang="en-US" kern="0"/>
          </a:p>
        </p:txBody>
      </p:sp>
      <p:sp>
        <p:nvSpPr>
          <p:cNvPr id="99" name="타원 35"/>
          <p:cNvSpPr/>
          <p:nvPr/>
        </p:nvSpPr>
        <p:spPr>
          <a:xfrm>
            <a:off x="4388611" y="3815378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6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100" name="타원 52"/>
          <p:cNvSpPr/>
          <p:nvPr/>
        </p:nvSpPr>
        <p:spPr>
          <a:xfrm>
            <a:off x="3061152" y="4269271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7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101" name="타원 49"/>
          <p:cNvSpPr/>
          <p:nvPr/>
        </p:nvSpPr>
        <p:spPr>
          <a:xfrm>
            <a:off x="4382316" y="4269271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8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102" name="Shape 150"/>
          <p:cNvSpPr/>
          <p:nvPr/>
        </p:nvSpPr>
        <p:spPr>
          <a:xfrm>
            <a:off x="2121701" y="4762947"/>
            <a:ext cx="2265784" cy="265116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algn="ctr" defTabSz="906145" latinLnBrk="0" hangingPunct="0">
              <a:lnSpc>
                <a:spcPct val="120000"/>
              </a:lnSpc>
              <a:defRPr sz="1000"/>
            </a:pPr>
            <a:r>
              <a:rPr lang="ko-KR" altLang="en-US" sz="900" kern="0">
                <a:latin typeface="+mn-ea"/>
              </a:rPr>
              <a:t>비회원 입장</a:t>
            </a:r>
            <a:endParaRPr lang="ko-KR" altLang="en-US" sz="900" kern="0">
              <a:latin typeface="+mn-ea"/>
            </a:endParaRPr>
          </a:p>
        </p:txBody>
      </p:sp>
      <p:sp>
        <p:nvSpPr>
          <p:cNvPr id="103" name="타원 40"/>
          <p:cNvSpPr/>
          <p:nvPr/>
        </p:nvSpPr>
        <p:spPr>
          <a:xfrm>
            <a:off x="4382316" y="4723164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9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cxnSp>
        <p:nvCxnSpPr>
          <p:cNvPr id="104" name="직선 연결선 71"/>
          <p:cNvCxnSpPr/>
          <p:nvPr/>
        </p:nvCxnSpPr>
        <p:spPr>
          <a:xfrm>
            <a:off x="1810448" y="3779587"/>
            <a:ext cx="2981125" cy="0"/>
          </a:xfrm>
          <a:prstGeom prst="line">
            <a:avLst/>
          </a:prstGeom>
          <a:ln w="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Shape 193"/>
          <p:cNvSpPr/>
          <p:nvPr/>
        </p:nvSpPr>
        <p:spPr>
          <a:xfrm>
            <a:off x="5510497" y="2865539"/>
            <a:ext cx="2318240" cy="288032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 w="12700" cap="flat">
            <a:noFill/>
            <a:miter/>
          </a:ln>
          <a:effectLst/>
        </p:spPr>
        <p:txBody>
          <a:bodyPr wrap="square" lIns="45719" tIns="45719" rIns="45719" bIns="45719" anchor="ctr">
            <a:noAutofit/>
          </a:bodyPr>
          <a:lstStyle/>
          <a:p>
            <a:pPr algn="ctr" defTabSz="906145" latinLnBrk="0" hangingPunct="0">
              <a:lnSpc>
                <a:spcPct val="120000"/>
              </a:lnSpc>
              <a:def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lang="ko-KR" altLang="en-US" kern="0"/>
              <a:t>아이디 및 비밀번호가 일치하지 않습니다</a:t>
            </a:r>
            <a:r>
              <a:rPr lang="en-US" altLang="ko-KR" kern="0"/>
              <a:t>.</a:t>
            </a:r>
            <a:endParaRPr lang="ko-KR" altLang="en-US" kern="0"/>
          </a:p>
        </p:txBody>
      </p:sp>
      <p:sp>
        <p:nvSpPr>
          <p:cNvPr id="106" name="타원 58"/>
          <p:cNvSpPr/>
          <p:nvPr/>
        </p:nvSpPr>
        <p:spPr>
          <a:xfrm>
            <a:off x="5454173" y="2841815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6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107" name="Shape 193"/>
          <p:cNvSpPr/>
          <p:nvPr/>
        </p:nvSpPr>
        <p:spPr>
          <a:xfrm>
            <a:off x="5510497" y="3225579"/>
            <a:ext cx="2318240" cy="288032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 w="12700" cap="flat">
            <a:noFill/>
            <a:miter/>
          </a:ln>
          <a:effectLst/>
        </p:spPr>
        <p:txBody>
          <a:bodyPr wrap="square" lIns="45719" tIns="45719" rIns="45719" bIns="45719" anchor="ctr">
            <a:noAutofit/>
          </a:bodyPr>
          <a:lstStyle/>
          <a:p>
            <a:pPr algn="ctr" defTabSz="906145" latinLnBrk="0" hangingPunct="0">
              <a:lnSpc>
                <a:spcPct val="120000"/>
              </a:lnSpc>
              <a:def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lang="ko-KR" altLang="en-US" kern="0"/>
              <a:t>올바른 이메일 형식이 아닙니다</a:t>
            </a:r>
            <a:r>
              <a:rPr lang="en-US" altLang="ko-KR" kern="0"/>
              <a:t>.</a:t>
            </a:r>
            <a:endParaRPr lang="ko-KR" altLang="en-US" kern="0"/>
          </a:p>
        </p:txBody>
      </p:sp>
      <p:sp>
        <p:nvSpPr>
          <p:cNvPr id="108" name="타원 45"/>
          <p:cNvSpPr/>
          <p:nvPr/>
        </p:nvSpPr>
        <p:spPr>
          <a:xfrm>
            <a:off x="5454173" y="3184648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6</a:t>
            </a:r>
            <a:endParaRPr lang="ko-KR" altLang="en-US" sz="900" b="1">
              <a:solidFill>
                <a:srgbClr val="6633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/>
          <p:cNvSpPr/>
          <p:nvPr/>
        </p:nvSpPr>
        <p:spPr>
          <a:xfrm>
            <a:off x="5527738" y="5270063"/>
            <a:ext cx="2080430" cy="3191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b="1"/>
              <a:t>확인</a:t>
            </a:r>
            <a:endParaRPr lang="ko-KR" altLang="en-US" sz="1050" b="1"/>
          </a:p>
        </p:txBody>
      </p:sp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02.</a:t>
            </a:r>
            <a:r>
              <a:rPr lang="en-US" altLang="ko-KR" sz="2000" kern="0">
                <a:latin typeface="+mn-ea"/>
              </a:rPr>
              <a:t> </a:t>
            </a:r>
            <a:r>
              <a:rPr lang="en-US" altLang="ko-KR" sz="2000" kern="0">
                <a:solidFill>
                  <a:srgbClr val="663300"/>
                </a:solidFill>
                <a:latin typeface="+mn-ea"/>
              </a:rPr>
              <a:t>ID/PW </a:t>
            </a:r>
            <a:r>
              <a:rPr lang="ko-KR" altLang="en-US" sz="2000" kern="0">
                <a:solidFill>
                  <a:srgbClr val="663300"/>
                </a:solidFill>
                <a:latin typeface="+mn-ea"/>
              </a:rPr>
              <a:t>찾기</a:t>
            </a:r>
            <a:r>
              <a:rPr lang="en-US" altLang="ko-KR" sz="2000" kern="0">
                <a:solidFill>
                  <a:srgbClr val="663300"/>
                </a:solidFill>
                <a:latin typeface="+mn-ea"/>
              </a:rPr>
              <a:t>_</a:t>
            </a:r>
            <a:r>
              <a:rPr lang="ko-KR" altLang="en-US" sz="2000" kern="0">
                <a:solidFill>
                  <a:srgbClr val="663300"/>
                </a:solidFill>
                <a:latin typeface="+mn-ea"/>
              </a:rPr>
              <a:t>일반</a:t>
            </a:r>
            <a:endParaRPr lang="ko-KR" altLang="en-US" sz="2000" kern="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3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 </a:t>
            </a:r>
            <a:r>
              <a:rPr lang="en-US" altLang="ko-KR" sz="1100">
                <a:latin typeface="+mn-ea"/>
              </a:rPr>
              <a:t>&gt; </a:t>
            </a:r>
            <a:r>
              <a:rPr lang="en-US" altLang="ko-KR" sz="1100" kern="0">
                <a:latin typeface="+mn-ea"/>
              </a:rPr>
              <a:t>ID/PW</a:t>
            </a:r>
            <a:r>
              <a:rPr lang="ko-KR" altLang="en-US" sz="1100">
                <a:latin typeface="+mn-ea"/>
              </a:rPr>
              <a:t> 찾기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161010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1881887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8112224" y="887120"/>
          <a:ext cx="2310322" cy="443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31"/>
                <a:gridCol w="2090291"/>
              </a:tblGrid>
              <a:tr h="370840">
                <a:tc gridSpan="2">
                  <a:txBody>
                    <a:bodyPr vert="horz" lIns="91440" tIns="45720" rIns="91440" bIns="45720" anchor="ctr" anchorCtr="0"/>
                    <a:p>
                      <a:pPr lvl="0" algn="ctr">
                        <a:spcBef>
                          <a:spcPts val="100"/>
                        </a:spcBef>
                        <a:defRPr sz="1800" b="0" i="0"/>
                      </a:pPr>
                      <a:r>
                        <a:rPr lang="en-US" altLang="ko-KR" sz="1100" b="1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altLang="ko-KR" sz="11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1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/>
                        <a:t>뒤로 버튼</a:t>
                      </a:r>
                      <a:endParaRPr lang="ko-KR" altLang="en-US" sz="800" b="1"/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/>
                        <a:t>- </a:t>
                      </a:r>
                      <a:r>
                        <a:rPr lang="ko-KR" altLang="en-US" sz="800" b="0"/>
                        <a:t>이전 화면으로 이동</a:t>
                      </a:r>
                      <a:endParaRPr lang="ko-KR" altLang="en-US" sz="800" b="0"/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2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 baseline="0"/>
                        <a:t>이름 입력 영역</a:t>
                      </a:r>
                      <a:endParaRPr lang="ko-KR" altLang="en-US" sz="800" b="1" baseline="0"/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 baseline="0"/>
                        <a:t>- </a:t>
                      </a:r>
                      <a:r>
                        <a:rPr lang="ko-KR" altLang="en-US" sz="800" b="0" baseline="0"/>
                        <a:t>선택 시 키패드 노출</a:t>
                      </a:r>
                      <a:endParaRPr lang="en-US" altLang="ko-KR" sz="800" b="0" baseline="0"/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3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 baseline="0"/>
                        <a:t>휴대폰 번호 입력 영역</a:t>
                      </a:r>
                      <a:endParaRPr lang="ko-KR" altLang="en-US" sz="800" b="1" baseline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/>
                        <a:t>- </a:t>
                      </a:r>
                      <a:r>
                        <a:rPr lang="ko-KR" altLang="en-US" sz="800" b="0" baseline="0"/>
                        <a:t>선택 시 숫자 키패드 노출</a:t>
                      </a:r>
                      <a:endParaRPr lang="ko-KR" altLang="en-US" sz="800" b="0" baseline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/>
                        <a:t>- ‘-’ </a:t>
                      </a:r>
                      <a:r>
                        <a:rPr lang="ko-KR" altLang="en-US" sz="800" b="0" baseline="0"/>
                        <a:t>제외한 숫자 입력</a:t>
                      </a:r>
                      <a:endParaRPr lang="en-US" altLang="ko-KR" sz="800" b="0" baseline="0"/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118872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4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확인 버튼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_ID(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찾기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이름과 휴대폰 번호 정상입력 후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선택 </a:t>
                      </a:r>
                      <a:r>
                        <a:rPr lang="ko-KR" altLang="en-US" sz="800" b="0"/>
                        <a:t>시</a:t>
                      </a:r>
                      <a:r>
                        <a:rPr lang="en-US" altLang="ko-KR" sz="800" b="0" baseline="0"/>
                        <a:t> </a:t>
                      </a:r>
                      <a:r>
                        <a:rPr lang="ko-KR" altLang="en-US" sz="800" b="0"/>
                        <a:t>이메일 알림 팝업 노출</a:t>
                      </a:r>
                      <a:endParaRPr lang="ko-KR" altLang="en-US" sz="800" b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/>
                        <a:t>:</a:t>
                      </a:r>
                      <a:r>
                        <a:rPr lang="en-US" altLang="ko-KR" sz="800" b="0" baseline="0"/>
                        <a:t> </a:t>
                      </a:r>
                      <a:r>
                        <a:rPr lang="ko-KR" altLang="en-US" sz="800" b="0" baseline="0"/>
                        <a:t>이메일 알림 팝업에서 </a:t>
                      </a:r>
                      <a:r>
                        <a:rPr lang="ko-KR" altLang="en-US" sz="800" b="0"/>
                        <a:t>확인 버튼 선택 시  </a:t>
                      </a:r>
                      <a:endParaRPr lang="ko-KR" altLang="en-US" sz="800" b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/>
                        <a:t>  </a:t>
                      </a:r>
                      <a:r>
                        <a:rPr lang="ko-KR" altLang="en-US" sz="800" b="0"/>
                        <a:t>로그인 화면으로 이동</a:t>
                      </a:r>
                      <a:endParaRPr lang="ko-KR" altLang="en-US" sz="800" b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/>
                        <a:t>- </a:t>
                      </a:r>
                      <a:r>
                        <a:rPr lang="ko-KR" altLang="en-US" sz="800" b="0" baseline="0"/>
                        <a:t>미입력 항목이 있을 경우 토스트 메시지  </a:t>
                      </a:r>
                      <a:endParaRPr lang="ko-KR" altLang="en-US" sz="800" b="0" baseline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/>
                        <a:t>  </a:t>
                      </a:r>
                      <a:r>
                        <a:rPr lang="ko-KR" altLang="en-US" sz="800" b="0" baseline="0"/>
                        <a:t>노출</a:t>
                      </a:r>
                      <a:endParaRPr lang="ko-KR" altLang="en-US" sz="800" b="0" baseline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이메일 형식이 맞지 않을 경우 토스트  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메세지 노출</a:t>
                      </a:r>
                      <a:endParaRPr lang="en-US" altLang="ko-KR" sz="8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5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1" baseline="0"/>
                        <a:t>ID(</a:t>
                      </a:r>
                      <a:r>
                        <a:rPr lang="ko-KR" altLang="en-US" sz="800" b="1" baseline="0"/>
                        <a:t>이메일</a:t>
                      </a:r>
                      <a:r>
                        <a:rPr lang="en-US" altLang="ko-KR" sz="800" b="1" baseline="0"/>
                        <a:t>)</a:t>
                      </a:r>
                      <a:r>
                        <a:rPr lang="ko-KR" altLang="en-US" sz="800" b="1" baseline="0"/>
                        <a:t>입력 영역</a:t>
                      </a:r>
                      <a:endParaRPr lang="ko-KR" altLang="en-US" sz="800" b="1" baseline="0"/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 baseline="0"/>
                        <a:t>- </a:t>
                      </a:r>
                      <a:r>
                        <a:rPr lang="ko-KR" altLang="en-US" sz="800" b="0" baseline="0"/>
                        <a:t>선택 시 키패드 노출</a:t>
                      </a:r>
                      <a:endParaRPr lang="en-US" altLang="ko-KR" sz="800" b="0" baseline="0"/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  <a:tr h="1310640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6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확인 버튼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</a:rPr>
                        <a:t>_PW</a:t>
                      </a:r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 찾기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이메일 정상입력 후 선택 </a:t>
                      </a:r>
                      <a:r>
                        <a:rPr lang="ko-KR" altLang="en-US" sz="800" b="0"/>
                        <a:t>시 이메일로 </a:t>
                      </a:r>
                      <a:endParaRPr lang="ko-KR" altLang="en-US" sz="800" b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ko-KR" altLang="en-US" sz="800" b="0"/>
                        <a:t>  임시 비밀번호 발송되며</a:t>
                      </a:r>
                      <a:r>
                        <a:rPr lang="en-US" altLang="ko-KR" sz="800" b="0"/>
                        <a:t>, </a:t>
                      </a:r>
                      <a:r>
                        <a:rPr lang="ko-KR" altLang="en-US" sz="800" b="0"/>
                        <a:t>임시 비밀번호</a:t>
                      </a:r>
                      <a:endParaRPr lang="ko-KR" altLang="en-US" sz="800" b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/>
                        <a:t>  </a:t>
                      </a:r>
                      <a:r>
                        <a:rPr lang="ko-KR" altLang="en-US" sz="800" b="0" baseline="0"/>
                        <a:t>발송 안내</a:t>
                      </a:r>
                      <a:r>
                        <a:rPr lang="ko-KR" altLang="en-US" sz="800" b="0"/>
                        <a:t> 팝업 노출</a:t>
                      </a:r>
                      <a:endParaRPr lang="ko-KR" altLang="en-US" sz="800" b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/>
                        <a:t>: </a:t>
                      </a:r>
                      <a:r>
                        <a:rPr lang="ko-KR" altLang="en-US" sz="800" b="0"/>
                        <a:t>임시 비밀번호 발송 안내 팝업에서</a:t>
                      </a:r>
                      <a:endParaRPr lang="ko-KR" altLang="en-US" sz="800" b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/>
                        <a:t>  </a:t>
                      </a:r>
                      <a:r>
                        <a:rPr lang="ko-KR" altLang="en-US" sz="800" b="0"/>
                        <a:t>확인 버튼 선택 시 로그인 화면 이동</a:t>
                      </a:r>
                      <a:endParaRPr lang="ko-KR" altLang="en-US" sz="800" b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/>
                        <a:t>- </a:t>
                      </a:r>
                      <a:r>
                        <a:rPr lang="ko-KR" altLang="en-US" sz="800" b="0" baseline="0"/>
                        <a:t>미입력 항목이 있을 경우 토스트 메시지  </a:t>
                      </a:r>
                      <a:endParaRPr lang="ko-KR" altLang="en-US" sz="800" b="0" baseline="0"/>
                    </a:p>
                    <a:p>
                      <a:pPr marL="0" indent="0" latinLnBrk="1">
                        <a:buFontTx/>
                        <a:buNone/>
                        <a:defRPr/>
                      </a:pPr>
                      <a:r>
                        <a:rPr lang="en-US" altLang="ko-KR" sz="800" b="0" baseline="0"/>
                        <a:t>  </a:t>
                      </a:r>
                      <a:r>
                        <a:rPr lang="ko-KR" altLang="en-US" sz="800" b="0" baseline="0"/>
                        <a:t>노출</a:t>
                      </a:r>
                      <a:endParaRPr lang="ko-KR" altLang="en-US" sz="800" b="0" baseline="0"/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 baseline="0"/>
                        <a:t>- </a:t>
                      </a:r>
                      <a:r>
                        <a:rPr lang="ko-KR" altLang="en-US" sz="800" b="0" baseline="0"/>
                        <a:t>이메일 형식이 맞지 않을 경우 토스트</a:t>
                      </a:r>
                      <a:endParaRPr lang="ko-KR" altLang="en-US" sz="800" b="0" baseline="0"/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 baseline="0"/>
                        <a:t>  </a:t>
                      </a:r>
                      <a:r>
                        <a:rPr lang="ko-KR" altLang="en-US" sz="800" b="0" baseline="0"/>
                        <a:t>메시지 노출</a:t>
                      </a:r>
                      <a:endParaRPr lang="en-US" altLang="ko-KR" sz="800" b="0" baseline="0"/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9" name="Shape 234"/>
          <p:cNvSpPr/>
          <p:nvPr/>
        </p:nvSpPr>
        <p:spPr>
          <a:xfrm>
            <a:off x="2229687" y="1247737"/>
            <a:ext cx="2290397" cy="183127"/>
          </a:xfrm>
          <a:prstGeom prst="rect">
            <a:avLst/>
          </a:prstGeom>
          <a:ln w="12700">
            <a:miter/>
          </a:ln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defTabSz="906145" latinLnBrk="0" hangingPunct="0">
              <a:lnSpc>
                <a:spcPct val="120000"/>
              </a:lnSpc>
              <a:defRPr sz="1000"/>
            </a:pPr>
            <a:r>
              <a:rPr lang="en-US" altLang="ko-KR" sz="1100" kern="0">
                <a:latin typeface="+mn-ea"/>
              </a:rPr>
              <a:t>ID/PW </a:t>
            </a:r>
            <a:r>
              <a:rPr lang="ko-KR" altLang="en-US" sz="1100" kern="0">
                <a:latin typeface="+mn-ea"/>
              </a:rPr>
              <a:t>찾기</a:t>
            </a:r>
            <a:endParaRPr lang="ko-KR" altLang="en-US" sz="1100" kern="0">
              <a:latin typeface="+mn-ea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1892449" y="1095127"/>
            <a:ext cx="3266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 hangingPunct="0">
              <a:lnSpc>
                <a:spcPct val="120000"/>
              </a:lnSpc>
              <a:defRPr/>
            </a:pPr>
            <a:r>
              <a:rPr lang="en-US" altLang="ko-KR" sz="2000" b="1" kern="0">
                <a:latin typeface="Arial"/>
                <a:ea typeface="맑은 고딕"/>
                <a:cs typeface="Arial"/>
              </a:rPr>
              <a:t>&lt;</a:t>
            </a:r>
            <a:endParaRPr lang="ko-KR" altLang="en-US" sz="2000" b="1" kern="0">
              <a:latin typeface="Arial"/>
              <a:ea typeface="맑은 고딕"/>
              <a:cs typeface="Arial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2147687" y="1138776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1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31" name="Shape 193"/>
          <p:cNvSpPr/>
          <p:nvPr/>
        </p:nvSpPr>
        <p:spPr>
          <a:xfrm>
            <a:off x="5375920" y="1776873"/>
            <a:ext cx="2318240" cy="288032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 w="12700" cap="flat">
            <a:noFill/>
            <a:miter/>
          </a:ln>
          <a:effectLst/>
        </p:spPr>
        <p:txBody>
          <a:bodyPr wrap="square" lIns="45719" tIns="45719" rIns="45719" bIns="45719" anchor="ctr">
            <a:noAutofit/>
          </a:bodyPr>
          <a:lstStyle/>
          <a:p>
            <a:pPr algn="ctr" defTabSz="906145" latinLnBrk="0" hangingPunct="0">
              <a:lnSpc>
                <a:spcPct val="120000"/>
              </a:lnSpc>
              <a:defRPr sz="800" b="1">
                <a:solidFill>
                  <a:srgbClr val="ffffff"/>
                </a:solidFill>
                <a:latin typeface="Wingdings"/>
                <a:ea typeface="Wingdings"/>
                <a:cs typeface="Wingdings"/>
                <a:sym typeface="Wingdings"/>
              </a:defRPr>
            </a:pPr>
            <a:r>
              <a:rPr lang="en-US" altLang="ko-KR" kern="0"/>
              <a:t>XX</a:t>
            </a:r>
            <a:r>
              <a:rPr lang="ko-KR" altLang="en-US" kern="0"/>
              <a:t>를 입력해주세요</a:t>
            </a:r>
            <a:r>
              <a:rPr lang="en-US" altLang="ko-KR" kern="0"/>
              <a:t>.</a:t>
            </a:r>
            <a:endParaRPr lang="ko-KR" altLang="en-US" kern="0"/>
          </a:p>
        </p:txBody>
      </p:sp>
      <p:sp>
        <p:nvSpPr>
          <p:cNvPr id="32" name="타원 31"/>
          <p:cNvSpPr/>
          <p:nvPr/>
        </p:nvSpPr>
        <p:spPr>
          <a:xfrm>
            <a:off x="5311714" y="1776873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4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33" name="Shape 193"/>
          <p:cNvSpPr/>
          <p:nvPr/>
        </p:nvSpPr>
        <p:spPr>
          <a:xfrm>
            <a:off x="5375920" y="2136913"/>
            <a:ext cx="2318240" cy="288032"/>
          </a:xfrm>
          <a:prstGeom prst="roundRect">
            <a:avLst>
              <a:gd name="adj" fmla="val 0"/>
            </a:avLst>
          </a:prstGeom>
          <a:solidFill>
            <a:srgbClr val="262626"/>
          </a:solidFill>
          <a:ln w="12700" cap="flat">
            <a:noFill/>
            <a:miter/>
          </a:ln>
          <a:effectLst/>
        </p:spPr>
        <p:txBody>
          <a:bodyPr wrap="square" lIns="45719" tIns="45719" rIns="45719" bIns="45719" anchor="ctr">
            <a:noAutofit/>
          </a:bodyPr>
          <a:lstStyle/>
          <a:p>
            <a:pPr algn="ctr" defTabSz="906145" latinLnBrk="0" hangingPunct="0">
              <a:lnSpc>
                <a:spcPct val="120000"/>
              </a:lnSpc>
              <a:defRPr sz="800" b="1">
                <a:solidFill>
                  <a:srgbClr val="ffffff"/>
                </a:solidFill>
                <a:latin typeface="Wingdings"/>
                <a:ea typeface="Wingdings"/>
                <a:cs typeface="Wingdings"/>
                <a:sym typeface="Wingdings"/>
              </a:defRPr>
            </a:pPr>
            <a:r>
              <a:rPr lang="ko-KR" altLang="en-US" kern="0"/>
              <a:t>올바른 이메일 형식이 아닙니다</a:t>
            </a:r>
            <a:r>
              <a:rPr lang="en-US" altLang="ko-KR" kern="0"/>
              <a:t>.</a:t>
            </a:r>
            <a:endParaRPr lang="ko-KR" altLang="en-US" kern="0"/>
          </a:p>
        </p:txBody>
      </p:sp>
      <p:sp>
        <p:nvSpPr>
          <p:cNvPr id="34" name="타원 33"/>
          <p:cNvSpPr/>
          <p:nvPr/>
        </p:nvSpPr>
        <p:spPr>
          <a:xfrm>
            <a:off x="5311714" y="2136913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4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518795" y="4246756"/>
            <a:ext cx="2089373" cy="3505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06145" latinLnBrk="0" hangingPunct="0">
              <a:lnSpc>
                <a:spcPct val="120000"/>
              </a:lnSpc>
              <a:defRPr sz="1000"/>
            </a:pPr>
            <a:endParaRPr lang="ko-KR" altLang="en-US" sz="1000" ker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Shape 434"/>
          <p:cNvSpPr/>
          <p:nvPr/>
        </p:nvSpPr>
        <p:spPr>
          <a:xfrm>
            <a:off x="5518795" y="4246270"/>
            <a:ext cx="2089373" cy="134297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663952" y="4797152"/>
            <a:ext cx="1850981" cy="21716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회원님의 이메일</a:t>
            </a:r>
            <a:r>
              <a:rPr lang="en-US" altLang="ko-KR" sz="900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</a:t>
            </a:r>
            <a:r>
              <a:rPr lang="ko-KR" altLang="en-US" sz="900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아이디</a:t>
            </a:r>
            <a:r>
              <a:rPr lang="en-US" altLang="ko-KR" sz="900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  <a:r>
              <a:rPr lang="ko-KR" altLang="en-US" sz="900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로 임시비밀번호가 발송되었습니다</a:t>
            </a:r>
            <a:r>
              <a:rPr lang="en-US" altLang="ko-KR" sz="900" ker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  <a:endParaRPr lang="en-US" altLang="ko-KR" sz="900" kern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446207" y="4223368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6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622722" y="1789866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6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091386" y="1867220"/>
            <a:ext cx="2480474" cy="16443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Shape 234"/>
          <p:cNvSpPr/>
          <p:nvPr/>
        </p:nvSpPr>
        <p:spPr>
          <a:xfrm>
            <a:off x="2123124" y="1693395"/>
            <a:ext cx="2290397" cy="166199"/>
          </a:xfrm>
          <a:prstGeom prst="rect">
            <a:avLst/>
          </a:prstGeom>
          <a:ln w="12700">
            <a:miter/>
          </a:ln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algn="l" defTabSz="906145" latinLnBrk="0" hangingPunct="0">
              <a:lnSpc>
                <a:spcPct val="120000"/>
              </a:lnSpc>
              <a:defRPr sz="1000"/>
            </a:pPr>
            <a:r>
              <a:rPr lang="en-US" altLang="ko-KR" sz="900" kern="0">
                <a:latin typeface="+mn-ea"/>
                <a:ea typeface="+mn-ea"/>
              </a:rPr>
              <a:t>ID(</a:t>
            </a:r>
            <a:r>
              <a:rPr lang="ko-KR" altLang="en-US" sz="900" kern="0">
                <a:latin typeface="+mn-ea"/>
                <a:ea typeface="+mn-ea"/>
              </a:rPr>
              <a:t>이메일</a:t>
            </a:r>
            <a:r>
              <a:rPr lang="en-US" altLang="ko-KR" sz="900" kern="0">
                <a:latin typeface="+mn-ea"/>
                <a:ea typeface="+mn-ea"/>
              </a:rPr>
              <a:t>) </a:t>
            </a:r>
            <a:r>
              <a:rPr lang="ko-KR" altLang="en-US" sz="900" kern="0">
                <a:latin typeface="+mn-ea"/>
                <a:ea typeface="+mn-ea"/>
              </a:rPr>
              <a:t>찾기</a:t>
            </a:r>
            <a:endParaRPr lang="ko-KR" altLang="en-US" sz="900" kern="0">
              <a:latin typeface="+mn-ea"/>
              <a:ea typeface="+mn-ea"/>
            </a:endParaRPr>
          </a:p>
        </p:txBody>
      </p:sp>
      <p:sp>
        <p:nvSpPr>
          <p:cNvPr id="38" name="Shape 234"/>
          <p:cNvSpPr/>
          <p:nvPr/>
        </p:nvSpPr>
        <p:spPr>
          <a:xfrm>
            <a:off x="2229687" y="2342708"/>
            <a:ext cx="481937" cy="166199"/>
          </a:xfrm>
          <a:prstGeom prst="rect">
            <a:avLst/>
          </a:prstGeom>
          <a:ln w="12700">
            <a:miter/>
          </a:ln>
        </p:spPr>
        <p:txBody>
          <a:bodyPr wrap="square" lIns="0" tIns="0" rIns="0" bIns="0" anchor="ctr">
            <a:spAutoFit/>
          </a:bodyPr>
          <a:lstStyle>
            <a:lvl1pPr algn="ctr">
              <a:defRPr sz="10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algn="l" defTabSz="906145" latinLnBrk="0" hangingPunct="0">
              <a:lnSpc>
                <a:spcPct val="120000"/>
              </a:lnSpc>
              <a:defRPr sz="1000"/>
            </a:pPr>
            <a:r>
              <a:rPr lang="ko-KR" altLang="en-US" sz="900" kern="0">
                <a:latin typeface="+mn-ea"/>
                <a:ea typeface="+mn-ea"/>
              </a:rPr>
              <a:t>이름 </a:t>
            </a:r>
            <a:r>
              <a:rPr lang="en-US" altLang="ko-KR" sz="900" kern="0">
                <a:latin typeface="+mn-ea"/>
                <a:ea typeface="+mn-ea"/>
              </a:rPr>
              <a:t>: </a:t>
            </a:r>
            <a:endParaRPr lang="ko-KR" altLang="en-US" sz="900" kern="0">
              <a:latin typeface="+mn-ea"/>
              <a:ea typeface="+mn-ea"/>
            </a:endParaRPr>
          </a:p>
        </p:txBody>
      </p:sp>
      <p:sp>
        <p:nvSpPr>
          <p:cNvPr id="41" name="Shape 150"/>
          <p:cNvSpPr/>
          <p:nvPr/>
        </p:nvSpPr>
        <p:spPr>
          <a:xfrm>
            <a:off x="2999656" y="2276872"/>
            <a:ext cx="1464443" cy="303682"/>
          </a:xfrm>
          <a:prstGeom prst="rect">
            <a:avLst/>
          </a:prstGeom>
          <a:solidFill>
            <a:schemeClr val="bg1"/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defTabSz="906145" latinLnBrk="0" hangingPunct="0">
              <a:lnSpc>
                <a:spcPct val="120000"/>
              </a:lnSpc>
              <a:defRPr sz="1000"/>
            </a:pPr>
            <a:endParaRPr lang="ko-KR" altLang="en-US" sz="800" kern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46" name="Shape 234"/>
          <p:cNvSpPr/>
          <p:nvPr/>
        </p:nvSpPr>
        <p:spPr>
          <a:xfrm>
            <a:off x="2229687" y="2795102"/>
            <a:ext cx="697961" cy="166199"/>
          </a:xfrm>
          <a:prstGeom prst="rect">
            <a:avLst/>
          </a:prstGeom>
          <a:ln w="12700">
            <a:miter/>
          </a:ln>
        </p:spPr>
        <p:txBody>
          <a:bodyPr wrap="square" lIns="0" tIns="0" rIns="0" bIns="0" anchor="ctr">
            <a:spAutoFit/>
          </a:bodyPr>
          <a:lstStyle>
            <a:lvl1pPr algn="ctr">
              <a:defRPr sz="10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algn="l" defTabSz="906145" latinLnBrk="0" hangingPunct="0">
              <a:lnSpc>
                <a:spcPct val="120000"/>
              </a:lnSpc>
              <a:defRPr sz="1000"/>
            </a:pPr>
            <a:r>
              <a:rPr lang="ko-KR" altLang="en-US" sz="900" kern="0">
                <a:latin typeface="+mn-ea"/>
                <a:ea typeface="+mn-ea"/>
              </a:rPr>
              <a:t>휴대폰 번호 </a:t>
            </a:r>
            <a:r>
              <a:rPr lang="en-US" altLang="ko-KR" sz="900" kern="0">
                <a:latin typeface="+mn-ea"/>
                <a:ea typeface="+mn-ea"/>
              </a:rPr>
              <a:t>: </a:t>
            </a:r>
            <a:endParaRPr lang="ko-KR" altLang="en-US" sz="900" kern="0">
              <a:latin typeface="+mn-ea"/>
              <a:ea typeface="+mn-ea"/>
            </a:endParaRPr>
          </a:p>
        </p:txBody>
      </p:sp>
      <p:sp>
        <p:nvSpPr>
          <p:cNvPr id="47" name="Shape 150"/>
          <p:cNvSpPr/>
          <p:nvPr/>
        </p:nvSpPr>
        <p:spPr>
          <a:xfrm>
            <a:off x="2999656" y="2724570"/>
            <a:ext cx="1464443" cy="303682"/>
          </a:xfrm>
          <a:prstGeom prst="rect">
            <a:avLst/>
          </a:prstGeom>
          <a:solidFill>
            <a:schemeClr val="bg1"/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defTabSz="906145" latinLnBrk="0" hangingPunct="0">
              <a:lnSpc>
                <a:spcPct val="120000"/>
              </a:lnSpc>
              <a:defRPr sz="1000"/>
            </a:pPr>
            <a:endParaRPr lang="ko-KR" altLang="en-US" sz="800" kern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15" name="Shape 184"/>
          <p:cNvSpPr/>
          <p:nvPr/>
        </p:nvSpPr>
        <p:spPr>
          <a:xfrm>
            <a:off x="2141915" y="1927711"/>
            <a:ext cx="2648762" cy="184666"/>
          </a:xfrm>
          <a:prstGeom prst="rect">
            <a:avLst/>
          </a:prstGeom>
          <a:ln w="12700">
            <a:miter/>
          </a:ln>
        </p:spPr>
        <p:txBody>
          <a:bodyPr wrap="square" lIns="0" tIns="0" rIns="0" bIns="0" anchor="ctr">
            <a:spAutoFit/>
          </a:bodyPr>
          <a:lstStyle>
            <a:lvl1pPr algn="ctr">
              <a:defRPr sz="7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algn="l" defTabSz="906145" latinLnBrk="0" hangingPunct="0">
              <a:lnSpc>
                <a:spcPct val="120000"/>
              </a:lnSpc>
              <a:defRPr/>
            </a:pPr>
            <a:r>
              <a:rPr lang="ko-KR" altLang="en-US" sz="1000" b="0" kern="0" spc="-150">
                <a:solidFill>
                  <a:schemeClr val="tx1"/>
                </a:solidFill>
              </a:rPr>
              <a:t>회원님의 이름과 휴대폰 번호를 입력해주세요</a:t>
            </a:r>
            <a:r>
              <a:rPr lang="en-US" altLang="ko-KR" sz="1000" b="0" kern="0" spc="-150">
                <a:solidFill>
                  <a:schemeClr val="tx1"/>
                </a:solidFill>
              </a:rPr>
              <a:t>.</a:t>
            </a:r>
            <a:endParaRPr lang="en-US" altLang="ko-KR" sz="1000" b="0" kern="0" spc="-150">
              <a:solidFill>
                <a:schemeClr val="tx1"/>
              </a:solidFill>
            </a:endParaRPr>
          </a:p>
        </p:txBody>
      </p:sp>
      <p:sp>
        <p:nvSpPr>
          <p:cNvPr id="48" name="사각형: 둥근 모서리 47"/>
          <p:cNvSpPr/>
          <p:nvPr/>
        </p:nvSpPr>
        <p:spPr>
          <a:xfrm>
            <a:off x="3778632" y="3212976"/>
            <a:ext cx="685468" cy="216733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b="1"/>
              <a:t>확인</a:t>
            </a:r>
            <a:endParaRPr lang="ko-KR" altLang="en-US" sz="1050" b="1"/>
          </a:p>
        </p:txBody>
      </p:sp>
      <p:sp>
        <p:nvSpPr>
          <p:cNvPr id="49" name="직사각형 48"/>
          <p:cNvSpPr/>
          <p:nvPr/>
        </p:nvSpPr>
        <p:spPr>
          <a:xfrm>
            <a:off x="2091386" y="3969894"/>
            <a:ext cx="2480474" cy="11872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91440" tIns="45720" rIns="91440" bIns="45720" anchor="ctr" anchorCtr="0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0" name="Shape 234"/>
          <p:cNvSpPr/>
          <p:nvPr/>
        </p:nvSpPr>
        <p:spPr>
          <a:xfrm>
            <a:off x="2123124" y="3796069"/>
            <a:ext cx="2290397" cy="166199"/>
          </a:xfrm>
          <a:prstGeom prst="rect">
            <a:avLst/>
          </a:prstGeom>
          <a:ln w="12700">
            <a:miter/>
          </a:ln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algn="l" defTabSz="906145" latinLnBrk="0" hangingPunct="0">
              <a:lnSpc>
                <a:spcPct val="120000"/>
              </a:lnSpc>
              <a:defRPr sz="1000"/>
            </a:pPr>
            <a:r>
              <a:rPr lang="en-US" altLang="ko-KR" sz="900" kern="0">
                <a:latin typeface="+mn-ea"/>
                <a:ea typeface="+mn-ea"/>
              </a:rPr>
              <a:t>PW </a:t>
            </a:r>
            <a:r>
              <a:rPr lang="ko-KR" altLang="en-US" sz="900" kern="0">
                <a:latin typeface="+mn-ea"/>
                <a:ea typeface="+mn-ea"/>
              </a:rPr>
              <a:t>찾기</a:t>
            </a:r>
            <a:endParaRPr lang="ko-KR" altLang="en-US" sz="900" kern="0">
              <a:latin typeface="+mn-ea"/>
              <a:ea typeface="+mn-ea"/>
            </a:endParaRPr>
          </a:p>
        </p:txBody>
      </p:sp>
      <p:sp>
        <p:nvSpPr>
          <p:cNvPr id="51" name="Shape 234"/>
          <p:cNvSpPr/>
          <p:nvPr/>
        </p:nvSpPr>
        <p:spPr>
          <a:xfrm>
            <a:off x="2229687" y="4445382"/>
            <a:ext cx="620238" cy="166199"/>
          </a:xfrm>
          <a:prstGeom prst="rect">
            <a:avLst/>
          </a:prstGeom>
          <a:ln w="12700">
            <a:miter/>
          </a:ln>
        </p:spPr>
        <p:txBody>
          <a:bodyPr wrap="square" lIns="0" tIns="0" rIns="0" bIns="0" anchor="ctr">
            <a:spAutoFit/>
          </a:bodyPr>
          <a:lstStyle>
            <a:lvl1pPr algn="ctr">
              <a:defRPr sz="10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algn="l" defTabSz="906145" latinLnBrk="0" hangingPunct="0">
              <a:lnSpc>
                <a:spcPct val="120000"/>
              </a:lnSpc>
              <a:defRPr sz="1000"/>
            </a:pPr>
            <a:r>
              <a:rPr lang="en-US" altLang="ko-KR" sz="900" b="0" kern="0" spc="-150">
                <a:solidFill>
                  <a:schemeClr val="tx1"/>
                </a:solidFill>
              </a:rPr>
              <a:t>I D (</a:t>
            </a:r>
            <a:r>
              <a:rPr lang="ko-KR" altLang="en-US" sz="900" b="0" kern="0" spc="-150">
                <a:solidFill>
                  <a:schemeClr val="tx1"/>
                </a:solidFill>
              </a:rPr>
              <a:t>이메일</a:t>
            </a:r>
            <a:r>
              <a:rPr lang="en-US" altLang="ko-KR" sz="900" b="0" kern="0" spc="-150">
                <a:solidFill>
                  <a:schemeClr val="tx1"/>
                </a:solidFill>
              </a:rPr>
              <a:t>)</a:t>
            </a:r>
            <a:r>
              <a:rPr lang="ko-KR" altLang="en-US" sz="900" kern="0">
                <a:latin typeface="+mn-ea"/>
                <a:ea typeface="+mn-ea"/>
              </a:rPr>
              <a:t> </a:t>
            </a:r>
            <a:r>
              <a:rPr lang="en-US" altLang="ko-KR" sz="900" kern="0">
                <a:latin typeface="+mn-ea"/>
                <a:ea typeface="+mn-ea"/>
              </a:rPr>
              <a:t>: </a:t>
            </a:r>
            <a:endParaRPr lang="ko-KR" altLang="en-US" sz="900" kern="0">
              <a:latin typeface="+mn-ea"/>
              <a:ea typeface="+mn-ea"/>
            </a:endParaRPr>
          </a:p>
        </p:txBody>
      </p:sp>
      <p:sp>
        <p:nvSpPr>
          <p:cNvPr id="52" name="Shape 150"/>
          <p:cNvSpPr/>
          <p:nvPr/>
        </p:nvSpPr>
        <p:spPr>
          <a:xfrm>
            <a:off x="2849925" y="4379546"/>
            <a:ext cx="1614174" cy="303682"/>
          </a:xfrm>
          <a:prstGeom prst="rect">
            <a:avLst/>
          </a:prstGeom>
          <a:solidFill>
            <a:schemeClr val="bg1"/>
          </a:solidFill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45719" tIns="45719" rIns="45719" bIns="45719" anchor="ctr">
            <a:noAutofit/>
          </a:bodyPr>
          <a:lstStyle/>
          <a:p>
            <a:pPr defTabSz="906145" latinLnBrk="0" hangingPunct="0">
              <a:lnSpc>
                <a:spcPct val="120000"/>
              </a:lnSpc>
              <a:defRPr sz="1000"/>
            </a:pPr>
            <a:endParaRPr lang="ko-KR" altLang="en-US" sz="800" kern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55" name="Shape 184"/>
          <p:cNvSpPr/>
          <p:nvPr/>
        </p:nvSpPr>
        <p:spPr>
          <a:xfrm>
            <a:off x="2141915" y="4030385"/>
            <a:ext cx="2648762" cy="184666"/>
          </a:xfrm>
          <a:prstGeom prst="rect">
            <a:avLst/>
          </a:prstGeom>
          <a:ln w="12700">
            <a:miter/>
          </a:ln>
        </p:spPr>
        <p:txBody>
          <a:bodyPr wrap="square" lIns="0" tIns="0" rIns="0" bIns="0" anchor="ctr">
            <a:spAutoFit/>
          </a:bodyPr>
          <a:lstStyle>
            <a:lvl1pPr algn="ctr">
              <a:defRPr sz="700" b="1">
                <a:solidFill>
                  <a:srgbClr val="0d0d0d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 algn="l" defTabSz="906145" latinLnBrk="0" hangingPunct="0">
              <a:lnSpc>
                <a:spcPct val="120000"/>
              </a:lnSpc>
              <a:defRPr/>
            </a:pPr>
            <a:r>
              <a:rPr lang="ko-KR" altLang="en-US" sz="1000" b="0" kern="0" spc="-150">
                <a:solidFill>
                  <a:schemeClr val="tx1"/>
                </a:solidFill>
              </a:rPr>
              <a:t>회원님의 </a:t>
            </a:r>
            <a:r>
              <a:rPr lang="en-US" altLang="ko-KR" sz="1000" b="0" kern="0" spc="-150">
                <a:solidFill>
                  <a:schemeClr val="tx1"/>
                </a:solidFill>
              </a:rPr>
              <a:t>ID(</a:t>
            </a:r>
            <a:r>
              <a:rPr lang="ko-KR" altLang="en-US" sz="1000" b="0" kern="0" spc="-150">
                <a:solidFill>
                  <a:schemeClr val="tx1"/>
                </a:solidFill>
              </a:rPr>
              <a:t>이메일</a:t>
            </a:r>
            <a:r>
              <a:rPr lang="en-US" altLang="ko-KR" sz="1000" b="0" kern="0" spc="-150">
                <a:solidFill>
                  <a:schemeClr val="tx1"/>
                </a:solidFill>
              </a:rPr>
              <a:t>)</a:t>
            </a:r>
            <a:r>
              <a:rPr lang="ko-KR" altLang="en-US" sz="1000" b="0" kern="0" spc="-150">
                <a:solidFill>
                  <a:schemeClr val="tx1"/>
                </a:solidFill>
              </a:rPr>
              <a:t>를 입력해주세요</a:t>
            </a:r>
            <a:r>
              <a:rPr lang="en-US" altLang="ko-KR" sz="1000" b="0" kern="0" spc="-150">
                <a:solidFill>
                  <a:schemeClr val="tx1"/>
                </a:solidFill>
              </a:rPr>
              <a:t>.</a:t>
            </a:r>
            <a:endParaRPr lang="en-US" altLang="ko-KR" sz="1000" b="0" kern="0" spc="-150">
              <a:solidFill>
                <a:schemeClr val="tx1"/>
              </a:solidFill>
            </a:endParaRPr>
          </a:p>
        </p:txBody>
      </p:sp>
      <p:sp>
        <p:nvSpPr>
          <p:cNvPr id="57" name="사각형: 둥근 모서리 56"/>
          <p:cNvSpPr/>
          <p:nvPr/>
        </p:nvSpPr>
        <p:spPr>
          <a:xfrm>
            <a:off x="3778632" y="4868451"/>
            <a:ext cx="685468" cy="216733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b="1"/>
              <a:t>확인</a:t>
            </a:r>
            <a:endParaRPr lang="ko-KR" altLang="en-US" sz="1050" b="1"/>
          </a:p>
        </p:txBody>
      </p:sp>
      <p:sp>
        <p:nvSpPr>
          <p:cNvPr id="58" name="타원 57"/>
          <p:cNvSpPr/>
          <p:nvPr/>
        </p:nvSpPr>
        <p:spPr>
          <a:xfrm>
            <a:off x="4369633" y="2686735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3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4369633" y="3162655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4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4375104" y="2224512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2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4369633" y="4322372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5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4369633" y="4798292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6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66" name="타원 65"/>
          <p:cNvSpPr/>
          <p:nvPr/>
        </p:nvSpPr>
        <p:spPr>
          <a:xfrm>
            <a:off x="7622722" y="2149906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6</a:t>
            </a:r>
            <a:endParaRPr lang="ko-KR" altLang="en-US" sz="900" b="1">
              <a:solidFill>
                <a:srgbClr val="663300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527738" y="3685887"/>
            <a:ext cx="2080430" cy="3191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b="1"/>
              <a:t>확인</a:t>
            </a:r>
            <a:endParaRPr lang="ko-KR" altLang="en-US" sz="1050" b="1"/>
          </a:p>
        </p:txBody>
      </p:sp>
      <p:sp>
        <p:nvSpPr>
          <p:cNvPr id="54" name="직사각형 53"/>
          <p:cNvSpPr/>
          <p:nvPr/>
        </p:nvSpPr>
        <p:spPr>
          <a:xfrm>
            <a:off x="5518795" y="2662580"/>
            <a:ext cx="2089373" cy="3505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06145" latinLnBrk="0" hangingPunct="0">
              <a:lnSpc>
                <a:spcPct val="120000"/>
              </a:lnSpc>
              <a:defRPr sz="1000"/>
            </a:pPr>
            <a:endParaRPr lang="ko-KR" altLang="en-US" sz="1000" ker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Shape 434"/>
          <p:cNvSpPr/>
          <p:nvPr/>
        </p:nvSpPr>
        <p:spPr>
          <a:xfrm>
            <a:off x="5518795" y="2662094"/>
            <a:ext cx="2089373" cy="134297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663952" y="3212976"/>
            <a:ext cx="1850981" cy="21716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900" kern="0">
                <a:solidFill>
                  <a:schemeClr val="bg1">
                    <a:lumMod val="50000"/>
                  </a:schemeClr>
                </a:solidFill>
                <a:latin typeface="+mn-ea"/>
              </a:rPr>
              <a:t>회원님의 </a:t>
            </a:r>
            <a:r>
              <a:rPr lang="en-US" altLang="ko-KR" sz="900" kern="0">
                <a:solidFill>
                  <a:schemeClr val="bg1">
                    <a:lumMod val="50000"/>
                  </a:schemeClr>
                </a:solidFill>
                <a:latin typeface="+mn-ea"/>
              </a:rPr>
              <a:t>ID(</a:t>
            </a:r>
            <a:r>
              <a:rPr lang="ko-KR" altLang="en-US" sz="900" kern="0">
                <a:solidFill>
                  <a:schemeClr val="bg1">
                    <a:lumMod val="50000"/>
                  </a:schemeClr>
                </a:solidFill>
                <a:latin typeface="+mn-ea"/>
              </a:rPr>
              <a:t>이메일</a:t>
            </a:r>
            <a:r>
              <a:rPr lang="en-US" altLang="ko-KR" sz="900" kern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900" kern="0">
                <a:solidFill>
                  <a:schemeClr val="bg1">
                    <a:lumMod val="50000"/>
                  </a:schemeClr>
                </a:solidFill>
                <a:latin typeface="+mn-ea"/>
              </a:rPr>
              <a:t>는</a:t>
            </a:r>
            <a:endParaRPr lang="ko-KR" altLang="en-US" sz="900" kern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000" b="1" kern="0">
                <a:solidFill>
                  <a:schemeClr val="accent2">
                    <a:lumMod val="75000"/>
                  </a:schemeClr>
                </a:solidFill>
                <a:latin typeface="+mn-ea"/>
              </a:rPr>
              <a:t>abc123@naber.com</a:t>
            </a:r>
            <a:endParaRPr lang="en-US" altLang="ko-KR" sz="1000" b="1" kern="0">
              <a:solidFill>
                <a:schemeClr val="accent2">
                  <a:lumMod val="75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900" kern="0">
                <a:solidFill>
                  <a:schemeClr val="bg1">
                    <a:lumMod val="50000"/>
                  </a:schemeClr>
                </a:solidFill>
                <a:latin typeface="+mn-ea"/>
              </a:rPr>
              <a:t>입니다</a:t>
            </a:r>
            <a:r>
              <a:rPr lang="en-US" altLang="ko-KR" sz="900" kern="0">
                <a:solidFill>
                  <a:schemeClr val="bg1">
                    <a:lumMod val="50000"/>
                  </a:schemeClr>
                </a:solidFill>
                <a:latin typeface="+mn-ea"/>
              </a:rPr>
              <a:t>.</a:t>
            </a:r>
            <a:endParaRPr lang="en-US" altLang="ko-KR" sz="900" kern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5446207" y="2639192"/>
            <a:ext cx="142876" cy="142876"/>
          </a:xfrm>
          <a:prstGeom prst="ellipse">
            <a:avLst/>
          </a:prstGeom>
          <a:solidFill>
            <a:srgbClr val="fce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900" b="1">
                <a:solidFill>
                  <a:srgbClr val="663300"/>
                </a:solidFill>
              </a:rPr>
              <a:t>4</a:t>
            </a:r>
            <a:endParaRPr lang="ko-KR" altLang="en-US" sz="900" b="1">
              <a:solidFill>
                <a:srgbClr val="6633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03.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메인화면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3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1881887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8112224" y="908720"/>
          <a:ext cx="2306955" cy="4769515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19075"/>
                <a:gridCol w="2087880"/>
              </a:tblGrid>
              <a:tr h="550317">
                <a:tc gridSpan="2">
                  <a:txBody>
                    <a:bodyPr vert="horz" lIns="91440" tIns="45720" rIns="91440" bIns="45720" anchor="ctr" anchorCtr="0"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 sz="1800" b="0" i="0"/>
                      </a:pPr>
                      <a:r>
                        <a:rPr lang="en-US" altLang="ko-KR" sz="1100" b="1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altLang="ko-KR" sz="11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727913">
                <a:tc gridSpan="2">
                  <a:txBody>
                    <a:bodyPr vert="horz" lIns="91440" tIns="45720" rIns="91440" bIns="4572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 sz="1800" b="0" i="0"/>
                      </a:pPr>
                      <a:r>
                        <a:rPr lang="en-US" altLang="ko-KR" sz="800" b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메인화면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 sz="1800" b="0" i="0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금주 특가상품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 sz="1800" b="0" i="0"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금주 히트 상품</a:t>
                      </a: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None/>
                        <a:defRPr sz="1800" b="0" i="0"/>
                      </a:pPr>
                      <a:endParaRPr lang="ko-KR" alt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23156">
                <a:tc gridSpan="2">
                  <a:txBody>
                    <a:bodyPr vert="horz" lIns="91440" tIns="45720" rIns="91440" bIns="45720" anchor="ctr" anchorCtr="0"/>
                    <a:p>
                      <a:pPr lvl="0" algn="ctr">
                        <a:spcBef>
                          <a:spcPts val="100"/>
                        </a:spcBef>
                        <a:defRPr sz="1800" b="0" i="0"/>
                      </a:pPr>
                      <a:r>
                        <a:rPr lang="en-US" altLang="ko-KR" sz="1100" b="1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altLang="ko-KR" sz="11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881198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1</a:t>
                      </a:r>
                      <a:endParaRPr lang="ko-KR" altLang="en-US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금주의 특가상품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관리자에서 설정한 특가상품  </a:t>
                      </a:r>
                      <a:r>
                        <a:rPr lang="en-US" altLang="ko-KR" sz="800" b="0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가지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</a:tr>
              <a:tr h="922658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2</a:t>
                      </a:r>
                      <a:endParaRPr lang="en-US" altLang="ko-KR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금주의 히트 상품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판매 가장 많은 상품 </a:t>
                      </a:r>
                      <a:r>
                        <a:rPr lang="en-US" altLang="ko-KR" sz="800" b="0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가지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</a:tr>
              <a:tr h="1164273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800" b="1">
                          <a:solidFill>
                            <a:srgbClr val="663300"/>
                          </a:solidFill>
                        </a:rPr>
                        <a:t>3</a:t>
                      </a:r>
                      <a:endParaRPr lang="en-US" altLang="ko-KR" sz="800" b="1">
                        <a:solidFill>
                          <a:srgbClr val="663300"/>
                        </a:solidFill>
                      </a:endParaRPr>
                    </a:p>
                  </a:txBody>
                  <a:tcPr marL="91440" marR="91440" anchor="ctr">
                    <a:solidFill>
                      <a:srgbClr val="fce7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en-US" altLang="ko-KR" sz="800" b="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메뉴박스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홈으로 이동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상품 리스트로 이동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검색창으로 이동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  <a:p>
                      <a:pPr marL="0" indent="0" latinLnBrk="1">
                        <a:buFont typeface="Wingdings"/>
                        <a:buNone/>
                        <a:defRPr/>
                      </a:pPr>
                      <a:r>
                        <a:rPr lang="ko-KR" altLang="en-US" sz="800" b="0">
                          <a:solidFill>
                            <a:schemeClr val="dk1"/>
                          </a:solidFill>
                        </a:rPr>
                        <a:t>마이페이지 이동</a:t>
                      </a:r>
                      <a:endParaRPr lang="ko-KR" altLang="en-US" sz="8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1" name="타원 50"/>
          <p:cNvSpPr/>
          <p:nvPr/>
        </p:nvSpPr>
        <p:spPr>
          <a:xfrm>
            <a:off x="2715106" y="1268760"/>
            <a:ext cx="1239708" cy="628317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tx1"/>
                </a:solidFill>
              </a:rPr>
              <a:t>로고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71" name="직선 연결선 70"/>
          <p:cNvCxnSpPr/>
          <p:nvPr/>
        </p:nvCxnSpPr>
        <p:spPr>
          <a:xfrm>
            <a:off x="1892449" y="2052077"/>
            <a:ext cx="2970562" cy="8771"/>
          </a:xfrm>
          <a:prstGeom prst="line">
            <a:avLst/>
          </a:prstGeom>
          <a:ln w="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1881886" y="4021873"/>
            <a:ext cx="2981125" cy="0"/>
          </a:xfrm>
          <a:prstGeom prst="line">
            <a:avLst/>
          </a:prstGeom>
          <a:ln w="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/>
          <p:cNvCxnSpPr/>
          <p:nvPr/>
        </p:nvCxnSpPr>
        <p:spPr>
          <a:xfrm>
            <a:off x="4571860" y="3136505"/>
            <a:ext cx="5014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"/>
          <p:cNvSpPr/>
          <p:nvPr/>
        </p:nvSpPr>
        <p:spPr>
          <a:xfrm>
            <a:off x="1892449" y="5825449"/>
            <a:ext cx="2898228" cy="450256"/>
          </a:xfrm>
          <a:prstGeom prst="rect">
            <a:avLst/>
          </a:prstGeom>
          <a:solidFill>
            <a:schemeClr val="lt1"/>
          </a:solidFill>
          <a:ln>
            <a:solidFill>
              <a:srgbClr val="9be5c8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92" name=""/>
          <p:cNvGraphicFramePr>
            <a:graphicFrameLocks noGrp="1"/>
          </p:cNvGraphicFramePr>
          <p:nvPr/>
        </p:nvGraphicFramePr>
        <p:xfrm>
          <a:off x="1881886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홈</a:t>
                      </a: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상품</a:t>
                      </a:r>
                      <a:endParaRPr lang="ko-KR" altLang="en-US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검색</a:t>
                      </a:r>
                      <a:endParaRPr lang="ko-KR" altLang="en-US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마이</a:t>
                      </a:r>
                      <a:endParaRPr lang="ko-KR" altLang="en-US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3" name=""/>
          <p:cNvSpPr/>
          <p:nvPr/>
        </p:nvSpPr>
        <p:spPr>
          <a:xfrm>
            <a:off x="2058458" y="2270125"/>
            <a:ext cx="2513402" cy="1630612"/>
          </a:xfrm>
          <a:prstGeom prst="rect">
            <a:avLst/>
          </a:prstGeom>
          <a:solidFill>
            <a:schemeClr val="lt1"/>
          </a:solidFill>
          <a:ln w="19050" cap="flat" cmpd="sng" algn="ctr">
            <a:solidFill>
              <a:srgbClr val="69d8ad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금주 특가 상품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94" name=""/>
          <p:cNvSpPr/>
          <p:nvPr/>
        </p:nvSpPr>
        <p:spPr>
          <a:xfrm>
            <a:off x="2058458" y="4222957"/>
            <a:ext cx="2513402" cy="142952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69d8ad">
                <a:alpha val="100000"/>
              </a:srgbClr>
            </a:solidFill>
            <a:prstDash val="solid"/>
            <a:round/>
            <a:headEnd w="med" len="med"/>
            <a:tailEnd w="med" len="me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금주 히트 상품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~~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95" name="타원 83"/>
          <p:cNvSpPr/>
          <p:nvPr/>
        </p:nvSpPr>
        <p:spPr>
          <a:xfrm>
            <a:off x="2045527" y="215552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ko-KR" altLang="en-US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7" name="타원 83"/>
          <p:cNvSpPr/>
          <p:nvPr/>
        </p:nvSpPr>
        <p:spPr>
          <a:xfrm>
            <a:off x="1987020" y="415151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99" name=""/>
          <p:cNvSpPr/>
          <p:nvPr/>
        </p:nvSpPr>
        <p:spPr>
          <a:xfrm>
            <a:off x="5073344" y="1298271"/>
            <a:ext cx="2689530" cy="2401382"/>
          </a:xfrm>
          <a:prstGeom prst="rect">
            <a:avLst/>
          </a:prstGeom>
          <a:solidFill>
            <a:schemeClr val="lt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0" name=""/>
          <p:cNvSpPr/>
          <p:nvPr/>
        </p:nvSpPr>
        <p:spPr>
          <a:xfrm>
            <a:off x="5302250" y="1493942"/>
            <a:ext cx="988859" cy="80626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1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101" name=""/>
          <p:cNvSpPr/>
          <p:nvPr/>
        </p:nvSpPr>
        <p:spPr>
          <a:xfrm>
            <a:off x="5302250" y="2622731"/>
            <a:ext cx="988859" cy="80626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2" name=""/>
          <p:cNvSpPr/>
          <p:nvPr/>
        </p:nvSpPr>
        <p:spPr>
          <a:xfrm>
            <a:off x="6595909" y="2622731"/>
            <a:ext cx="988859" cy="80626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3" name=""/>
          <p:cNvSpPr/>
          <p:nvPr/>
        </p:nvSpPr>
        <p:spPr>
          <a:xfrm>
            <a:off x="6595909" y="1493942"/>
            <a:ext cx="988859" cy="80626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104" name="연결선: 꺾임 72"/>
          <p:cNvCxnSpPr/>
          <p:nvPr/>
        </p:nvCxnSpPr>
        <p:spPr>
          <a:xfrm rot="5400000" flipH="1" flipV="1">
            <a:off x="4496220" y="3634534"/>
            <a:ext cx="848350" cy="763709"/>
          </a:xfrm>
          <a:prstGeom prst="straightConnector1">
            <a:avLst/>
          </a:prstGeom>
          <a:noFill/>
          <a:ln w="12700" cap="flat" cmpd="sng" algn="ctr">
            <a:solidFill>
              <a:srgbClr val="ff0000">
                <a:alpha val="100000"/>
              </a:srgbClr>
            </a:solidFill>
            <a:prstDash val="solid"/>
            <a:tailEnd type="triangle"/>
          </a:ln>
        </p:spPr>
      </p:cxnSp>
      <p:sp>
        <p:nvSpPr>
          <p:cNvPr id="105" name="타원 83"/>
          <p:cNvSpPr/>
          <p:nvPr/>
        </p:nvSpPr>
        <p:spPr>
          <a:xfrm>
            <a:off x="1810448" y="582544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106" name="연결선: 꺾임 72"/>
          <p:cNvCxnSpPr>
            <a:endCxn id="107" idx="1"/>
          </p:cNvCxnSpPr>
          <p:nvPr/>
        </p:nvCxnSpPr>
        <p:spPr>
          <a:xfrm flipV="1">
            <a:off x="4025572" y="5213612"/>
            <a:ext cx="1047772" cy="572458"/>
          </a:xfrm>
          <a:prstGeom prst="straightConnector1">
            <a:avLst/>
          </a:prstGeom>
          <a:noFill/>
          <a:ln w="12700" cap="flat" cmpd="sng" algn="ctr">
            <a:solidFill>
              <a:srgbClr val="ff0000">
                <a:alpha val="100000"/>
              </a:srgbClr>
            </a:solidFill>
            <a:prstDash val="solid"/>
            <a:tailEnd type="triangle"/>
          </a:ln>
        </p:spPr>
      </p:cxnSp>
      <p:sp>
        <p:nvSpPr>
          <p:cNvPr id="107" name=""/>
          <p:cNvSpPr/>
          <p:nvPr/>
        </p:nvSpPr>
        <p:spPr>
          <a:xfrm>
            <a:off x="5073344" y="4151518"/>
            <a:ext cx="2689530" cy="212418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회사 소개글</a:t>
            </a:r>
            <a:endParaRPr lang="ko-KR" altLang="en-US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04.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상품 목록 화면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4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1881887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2715106" y="1268760"/>
            <a:ext cx="1239708" cy="628317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tx1"/>
                </a:solidFill>
              </a:rPr>
              <a:t>로고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71" name="직선 연결선 70"/>
          <p:cNvCxnSpPr/>
          <p:nvPr/>
        </p:nvCxnSpPr>
        <p:spPr>
          <a:xfrm>
            <a:off x="1892449" y="2052077"/>
            <a:ext cx="2970562" cy="8771"/>
          </a:xfrm>
          <a:prstGeom prst="line">
            <a:avLst/>
          </a:prstGeom>
          <a:ln w="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1881886" y="4021873"/>
            <a:ext cx="2981125" cy="0"/>
          </a:xfrm>
          <a:prstGeom prst="line">
            <a:avLst/>
          </a:prstGeom>
          <a:ln w="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/>
          <p:cNvCxnSpPr/>
          <p:nvPr/>
        </p:nvCxnSpPr>
        <p:spPr>
          <a:xfrm>
            <a:off x="4571860" y="3136505"/>
            <a:ext cx="5014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"/>
          <p:cNvSpPr/>
          <p:nvPr/>
        </p:nvSpPr>
        <p:spPr>
          <a:xfrm>
            <a:off x="1892449" y="5825449"/>
            <a:ext cx="2898228" cy="450256"/>
          </a:xfrm>
          <a:prstGeom prst="rect">
            <a:avLst/>
          </a:prstGeom>
          <a:solidFill>
            <a:schemeClr val="lt1"/>
          </a:solidFill>
          <a:ln>
            <a:solidFill>
              <a:srgbClr val="9be5c8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92" name=""/>
          <p:cNvGraphicFramePr>
            <a:graphicFrameLocks noGrp="1"/>
          </p:cNvGraphicFramePr>
          <p:nvPr/>
        </p:nvGraphicFramePr>
        <p:xfrm>
          <a:off x="1881886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홈</a:t>
                      </a:r>
                      <a:endParaRPr lang="en-US" altLang="ko-KR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상품</a:t>
                      </a:r>
                      <a:endParaRPr lang="ko-KR" altLang="en-US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검색</a:t>
                      </a:r>
                      <a:endParaRPr lang="ko-KR" altLang="en-US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>
                          <a:ln w="9525">
                            <a:solidFill>
                              <a:schemeClr val="lt1"/>
                            </a:solidFill>
                          </a:ln>
                          <a:solidFill>
                            <a:schemeClr val="dk1"/>
                          </a:solidFill>
                        </a:rPr>
                        <a:t>마이</a:t>
                      </a:r>
                      <a:endParaRPr lang="ko-KR" altLang="en-US">
                        <a:ln w="9525">
                          <a:solidFill>
                            <a:schemeClr val="lt1"/>
                          </a:solidFill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3" name=""/>
          <p:cNvSpPr/>
          <p:nvPr/>
        </p:nvSpPr>
        <p:spPr>
          <a:xfrm>
            <a:off x="2058458" y="2498963"/>
            <a:ext cx="2513402" cy="1401775"/>
          </a:xfrm>
          <a:prstGeom prst="rect">
            <a:avLst/>
          </a:prstGeom>
          <a:solidFill>
            <a:schemeClr val="lt1"/>
          </a:solidFill>
          <a:ln w="19050" cap="flat" cmpd="sng" algn="ctr">
            <a:solidFill>
              <a:srgbClr val="69d8ad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금주 특가 상품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94" name=""/>
          <p:cNvSpPr/>
          <p:nvPr/>
        </p:nvSpPr>
        <p:spPr>
          <a:xfrm>
            <a:off x="2058458" y="4222957"/>
            <a:ext cx="2513402" cy="142952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69d8ad">
                <a:alpha val="100000"/>
              </a:srgbClr>
            </a:solidFill>
            <a:prstDash val="solid"/>
            <a:round/>
            <a:headEnd w="med" len="med"/>
            <a:tailEnd w="med" len="me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리스트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95" name="타원 83"/>
          <p:cNvSpPr/>
          <p:nvPr/>
        </p:nvSpPr>
        <p:spPr>
          <a:xfrm>
            <a:off x="2045527" y="242222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97" name="타원 83"/>
          <p:cNvSpPr/>
          <p:nvPr/>
        </p:nvSpPr>
        <p:spPr>
          <a:xfrm>
            <a:off x="1987020" y="415151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99" name=""/>
          <p:cNvSpPr/>
          <p:nvPr/>
        </p:nvSpPr>
        <p:spPr>
          <a:xfrm>
            <a:off x="5073344" y="1298271"/>
            <a:ext cx="2689530" cy="2401382"/>
          </a:xfrm>
          <a:prstGeom prst="rect">
            <a:avLst/>
          </a:prstGeom>
          <a:solidFill>
            <a:schemeClr val="lt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0" name=""/>
          <p:cNvSpPr/>
          <p:nvPr/>
        </p:nvSpPr>
        <p:spPr>
          <a:xfrm>
            <a:off x="5302250" y="1493942"/>
            <a:ext cx="988859" cy="80626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1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101" name=""/>
          <p:cNvSpPr/>
          <p:nvPr/>
        </p:nvSpPr>
        <p:spPr>
          <a:xfrm>
            <a:off x="5302250" y="2622731"/>
            <a:ext cx="988859" cy="80626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2" name=""/>
          <p:cNvSpPr/>
          <p:nvPr/>
        </p:nvSpPr>
        <p:spPr>
          <a:xfrm>
            <a:off x="6595909" y="2622731"/>
            <a:ext cx="988859" cy="80626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4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3" name=""/>
          <p:cNvSpPr/>
          <p:nvPr/>
        </p:nvSpPr>
        <p:spPr>
          <a:xfrm>
            <a:off x="6595909" y="1493942"/>
            <a:ext cx="988859" cy="80626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5" name="타원 83"/>
          <p:cNvSpPr/>
          <p:nvPr/>
        </p:nvSpPr>
        <p:spPr>
          <a:xfrm>
            <a:off x="1810448" y="582544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318669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전체 상품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관리자가 설정한 특가상품 상위노출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나머지 상품 가나다순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홈으로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상품목록으로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검색으로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마이페이지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05.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상품 상세 화면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5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472186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1305405" y="1268760"/>
            <a:ext cx="1239708" cy="628317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tx1"/>
                </a:solidFill>
              </a:rPr>
              <a:t>로고</a:t>
            </a:r>
            <a:endParaRPr lang="ko-KR" altLang="en-US" sz="900">
              <a:solidFill>
                <a:schemeClr val="tx1"/>
              </a:solidFill>
            </a:endParaRPr>
          </a:p>
        </p:txBody>
      </p:sp>
      <p:cxnSp>
        <p:nvCxnSpPr>
          <p:cNvPr id="73" name="연결선: 꺾임 72"/>
          <p:cNvCxnSpPr/>
          <p:nvPr/>
        </p:nvCxnSpPr>
        <p:spPr>
          <a:xfrm rot="5400000" flipH="1" flipV="1">
            <a:off x="2627815" y="4112464"/>
            <a:ext cx="1850629" cy="6932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50045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선택한 상품 상세내용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이름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대표이미지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평점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찜 할수있는 버튼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각 탭을 보여주는 버튼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-&gt;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하단 탭 변경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상품의 수량을 결정하여 장바구니에 담기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수량변경은 화살표 모양 버튼 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가격도 같이 변경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6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상품의 보관방법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유의 사항의 설명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7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다음 페이지에서 설명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8" name=""/>
          <p:cNvSpPr/>
          <p:nvPr/>
        </p:nvSpPr>
        <p:spPr>
          <a:xfrm>
            <a:off x="652462" y="1392418"/>
            <a:ext cx="476250" cy="381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09" name=""/>
          <p:cNvCxnSpPr/>
          <p:nvPr/>
        </p:nvCxnSpPr>
        <p:spPr>
          <a:xfrm rot="10800000">
            <a:off x="692298" y="1582918"/>
            <a:ext cx="407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"/>
          <p:cNvSpPr txBox="1"/>
          <p:nvPr/>
        </p:nvSpPr>
        <p:spPr>
          <a:xfrm>
            <a:off x="472186" y="2032118"/>
            <a:ext cx="2898228" cy="284783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1300"/>
              <a:t>상품 이름</a:t>
            </a:r>
            <a:endParaRPr lang="ko-KR" altLang="en-US" sz="1300"/>
          </a:p>
        </p:txBody>
      </p:sp>
      <p:sp>
        <p:nvSpPr>
          <p:cNvPr id="111" name=""/>
          <p:cNvSpPr/>
          <p:nvPr/>
        </p:nvSpPr>
        <p:spPr>
          <a:xfrm>
            <a:off x="636092" y="2426892"/>
            <a:ext cx="2570416" cy="141922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500">
                <a:solidFill>
                  <a:schemeClr val="dk1"/>
                </a:solidFill>
              </a:rPr>
              <a:t>상품 대표 이미지</a:t>
            </a:r>
            <a:endParaRPr lang="ko-KR" altLang="en-US" sz="1500">
              <a:solidFill>
                <a:schemeClr val="dk1"/>
              </a:solidFill>
            </a:endParaRPr>
          </a:p>
        </p:txBody>
      </p:sp>
      <p:sp>
        <p:nvSpPr>
          <p:cNvPr id="112" name="타원 83"/>
          <p:cNvSpPr/>
          <p:nvPr/>
        </p:nvSpPr>
        <p:spPr>
          <a:xfrm>
            <a:off x="1454977" y="203211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13" name="타원 83"/>
          <p:cNvSpPr/>
          <p:nvPr/>
        </p:nvSpPr>
        <p:spPr>
          <a:xfrm>
            <a:off x="581024" y="235545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14" name=""/>
          <p:cNvSpPr/>
          <p:nvPr/>
        </p:nvSpPr>
        <p:spPr>
          <a:xfrm>
            <a:off x="1328480" y="4055387"/>
            <a:ext cx="1090136" cy="50982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평점</a:t>
            </a:r>
            <a:endParaRPr lang="ko-KR" altLang="en-US" sz="10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찜하기 </a:t>
            </a:r>
            <a:r>
              <a:rPr lang="en-US" altLang="ko-KR" sz="1000">
                <a:solidFill>
                  <a:schemeClr val="dk1"/>
                </a:solidFill>
              </a:rPr>
              <a:t>(</a:t>
            </a:r>
            <a:r>
              <a:rPr lang="ko-KR" altLang="en-US" sz="1000">
                <a:solidFill>
                  <a:schemeClr val="dk1"/>
                </a:solidFill>
              </a:rPr>
              <a:t>하트</a:t>
            </a:r>
            <a:r>
              <a:rPr lang="en-US" altLang="ko-KR" sz="1000">
                <a:solidFill>
                  <a:schemeClr val="dk1"/>
                </a:solidFill>
              </a:rPr>
              <a:t>)</a:t>
            </a:r>
            <a:endParaRPr lang="en-US" altLang="ko-KR" sz="1000">
              <a:solidFill>
                <a:schemeClr val="dk1"/>
              </a:solidFill>
            </a:endParaRPr>
          </a:p>
        </p:txBody>
      </p:sp>
      <p:sp>
        <p:nvSpPr>
          <p:cNvPr id="115" name="타원 83"/>
          <p:cNvSpPr/>
          <p:nvPr/>
        </p:nvSpPr>
        <p:spPr>
          <a:xfrm>
            <a:off x="1328480" y="401728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16" name=""/>
          <p:cNvSpPr/>
          <p:nvPr/>
        </p:nvSpPr>
        <p:spPr>
          <a:xfrm>
            <a:off x="581024" y="4752975"/>
            <a:ext cx="818893" cy="33337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주문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117" name=""/>
          <p:cNvSpPr/>
          <p:nvPr/>
        </p:nvSpPr>
        <p:spPr>
          <a:xfrm>
            <a:off x="1399917" y="4752975"/>
            <a:ext cx="904158" cy="33337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8" name=""/>
          <p:cNvSpPr/>
          <p:nvPr/>
        </p:nvSpPr>
        <p:spPr>
          <a:xfrm>
            <a:off x="2304076" y="4752975"/>
            <a:ext cx="902432" cy="33337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리뷰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9" name="타원 83"/>
          <p:cNvSpPr/>
          <p:nvPr/>
        </p:nvSpPr>
        <p:spPr>
          <a:xfrm>
            <a:off x="549422" y="468153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20" name=""/>
          <p:cNvSpPr/>
          <p:nvPr/>
        </p:nvSpPr>
        <p:spPr>
          <a:xfrm>
            <a:off x="581024" y="5086350"/>
            <a:ext cx="2625484" cy="104775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탭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21" name=""/>
          <p:cNvSpPr/>
          <p:nvPr/>
        </p:nvSpPr>
        <p:spPr>
          <a:xfrm>
            <a:off x="4024313" y="1123603"/>
            <a:ext cx="3544032" cy="159334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5" name=""/>
          <p:cNvSpPr/>
          <p:nvPr/>
        </p:nvSpPr>
        <p:spPr>
          <a:xfrm>
            <a:off x="4214812" y="1359164"/>
            <a:ext cx="3081337" cy="47123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26" name="타원 83"/>
          <p:cNvSpPr/>
          <p:nvPr/>
        </p:nvSpPr>
        <p:spPr>
          <a:xfrm>
            <a:off x="3952875" y="105216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28" name=""/>
          <p:cNvSpPr/>
          <p:nvPr/>
        </p:nvSpPr>
        <p:spPr>
          <a:xfrm>
            <a:off x="4329112" y="1447228"/>
            <a:ext cx="1066800" cy="31415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상품개수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129" name=""/>
          <p:cNvSpPr/>
          <p:nvPr/>
        </p:nvSpPr>
        <p:spPr>
          <a:xfrm>
            <a:off x="6096000" y="1447228"/>
            <a:ext cx="1066800" cy="31415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1(</a:t>
            </a: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수량변경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0" name=""/>
          <p:cNvSpPr/>
          <p:nvPr/>
        </p:nvSpPr>
        <p:spPr>
          <a:xfrm>
            <a:off x="4214812" y="2281862"/>
            <a:ext cx="3081337" cy="29005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400">
                <a:solidFill>
                  <a:schemeClr val="dk1"/>
                </a:solidFill>
              </a:rPr>
              <a:t>장바구니 담기</a:t>
            </a:r>
            <a:endParaRPr lang="ko-KR" altLang="en-US" sz="1400">
              <a:solidFill>
                <a:schemeClr val="dk1"/>
              </a:solidFill>
            </a:endParaRPr>
          </a:p>
        </p:txBody>
      </p:sp>
      <p:sp>
        <p:nvSpPr>
          <p:cNvPr id="137" name=""/>
          <p:cNvSpPr/>
          <p:nvPr/>
        </p:nvSpPr>
        <p:spPr>
          <a:xfrm>
            <a:off x="4027061" y="2895663"/>
            <a:ext cx="3544032" cy="159334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8" name=""/>
          <p:cNvSpPr/>
          <p:nvPr/>
        </p:nvSpPr>
        <p:spPr>
          <a:xfrm>
            <a:off x="4217560" y="3040820"/>
            <a:ext cx="3081337" cy="47123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9" name="타원 83"/>
          <p:cNvSpPr/>
          <p:nvPr/>
        </p:nvSpPr>
        <p:spPr>
          <a:xfrm>
            <a:off x="3955623" y="282422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6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40" name=""/>
          <p:cNvSpPr/>
          <p:nvPr/>
        </p:nvSpPr>
        <p:spPr>
          <a:xfrm>
            <a:off x="4291012" y="3114842"/>
            <a:ext cx="1066800" cy="31415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보관방법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1" name=""/>
          <p:cNvSpPr/>
          <p:nvPr/>
        </p:nvSpPr>
        <p:spPr>
          <a:xfrm>
            <a:off x="6162675" y="3114842"/>
            <a:ext cx="1066800" cy="31415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설명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5" name=""/>
          <p:cNvSpPr/>
          <p:nvPr/>
        </p:nvSpPr>
        <p:spPr>
          <a:xfrm>
            <a:off x="4217560" y="3781668"/>
            <a:ext cx="3081337" cy="47123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6" name=""/>
          <p:cNvSpPr/>
          <p:nvPr/>
        </p:nvSpPr>
        <p:spPr>
          <a:xfrm>
            <a:off x="4291012" y="3846005"/>
            <a:ext cx="1066800" cy="31415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유의사항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7" name=""/>
          <p:cNvSpPr/>
          <p:nvPr/>
        </p:nvSpPr>
        <p:spPr>
          <a:xfrm>
            <a:off x="6162675" y="3860208"/>
            <a:ext cx="1066800" cy="31415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설명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8" name=""/>
          <p:cNvSpPr/>
          <p:nvPr/>
        </p:nvSpPr>
        <p:spPr>
          <a:xfrm>
            <a:off x="4024313" y="4681537"/>
            <a:ext cx="3544032" cy="159334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리뷰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9" name="타원 83"/>
          <p:cNvSpPr/>
          <p:nvPr/>
        </p:nvSpPr>
        <p:spPr>
          <a:xfrm>
            <a:off x="4024313" y="456521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7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60" name=""/>
          <p:cNvSpPr/>
          <p:nvPr/>
        </p:nvSpPr>
        <p:spPr>
          <a:xfrm>
            <a:off x="5755480" y="1920276"/>
            <a:ext cx="1543417" cy="25471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가격</a:t>
            </a:r>
            <a:endParaRPr lang="ko-KR" altLang="en-US" sz="13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06.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상품 상세 화면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리뷰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6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472186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1305405" y="1268760"/>
            <a:ext cx="1239708" cy="628317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tx1"/>
                </a:solidFill>
              </a:rPr>
              <a:t>로고</a:t>
            </a:r>
            <a:endParaRPr lang="ko-KR" altLang="en-US" sz="900">
              <a:solidFill>
                <a:schemeClr val="tx1"/>
              </a:solidFill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345892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선택한 상품 상세내용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7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탭 선택시 리뷰목록들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8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총 별점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9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글 상자의 내용으로 리뷰 작성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10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리뷰목록들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8" name=""/>
          <p:cNvSpPr/>
          <p:nvPr/>
        </p:nvSpPr>
        <p:spPr>
          <a:xfrm>
            <a:off x="652462" y="1392418"/>
            <a:ext cx="476250" cy="381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09" name=""/>
          <p:cNvCxnSpPr/>
          <p:nvPr/>
        </p:nvCxnSpPr>
        <p:spPr>
          <a:xfrm rot="10800000">
            <a:off x="692298" y="1582918"/>
            <a:ext cx="407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"/>
          <p:cNvSpPr txBox="1"/>
          <p:nvPr/>
        </p:nvSpPr>
        <p:spPr>
          <a:xfrm>
            <a:off x="472186" y="2032118"/>
            <a:ext cx="2898228" cy="284783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1300"/>
              <a:t>상품 이름</a:t>
            </a:r>
            <a:endParaRPr lang="ko-KR" altLang="en-US" sz="1300"/>
          </a:p>
        </p:txBody>
      </p:sp>
      <p:sp>
        <p:nvSpPr>
          <p:cNvPr id="111" name=""/>
          <p:cNvSpPr/>
          <p:nvPr/>
        </p:nvSpPr>
        <p:spPr>
          <a:xfrm>
            <a:off x="636092" y="2426892"/>
            <a:ext cx="2570416" cy="141922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500">
                <a:solidFill>
                  <a:schemeClr val="dk1"/>
                </a:solidFill>
              </a:rPr>
              <a:t>상품 대표 이미지</a:t>
            </a:r>
            <a:endParaRPr lang="ko-KR" altLang="en-US" sz="1500">
              <a:solidFill>
                <a:schemeClr val="dk1"/>
              </a:solidFill>
            </a:endParaRPr>
          </a:p>
        </p:txBody>
      </p:sp>
      <p:sp>
        <p:nvSpPr>
          <p:cNvPr id="112" name="타원 83"/>
          <p:cNvSpPr/>
          <p:nvPr/>
        </p:nvSpPr>
        <p:spPr>
          <a:xfrm>
            <a:off x="1454977" y="203211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13" name="타원 83"/>
          <p:cNvSpPr/>
          <p:nvPr/>
        </p:nvSpPr>
        <p:spPr>
          <a:xfrm>
            <a:off x="581024" y="235545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14" name=""/>
          <p:cNvSpPr/>
          <p:nvPr/>
        </p:nvSpPr>
        <p:spPr>
          <a:xfrm>
            <a:off x="1328480" y="4055387"/>
            <a:ext cx="1090136" cy="50982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평점</a:t>
            </a:r>
            <a:endParaRPr lang="ko-KR" altLang="en-US" sz="10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찜하기 </a:t>
            </a:r>
            <a:r>
              <a:rPr lang="en-US" altLang="ko-KR" sz="1000">
                <a:solidFill>
                  <a:schemeClr val="dk1"/>
                </a:solidFill>
              </a:rPr>
              <a:t>(</a:t>
            </a:r>
            <a:r>
              <a:rPr lang="ko-KR" altLang="en-US" sz="1000">
                <a:solidFill>
                  <a:schemeClr val="dk1"/>
                </a:solidFill>
              </a:rPr>
              <a:t>하트</a:t>
            </a:r>
            <a:r>
              <a:rPr lang="en-US" altLang="ko-KR" sz="1000">
                <a:solidFill>
                  <a:schemeClr val="dk1"/>
                </a:solidFill>
              </a:rPr>
              <a:t>)</a:t>
            </a:r>
            <a:endParaRPr lang="en-US" altLang="ko-KR" sz="1000">
              <a:solidFill>
                <a:schemeClr val="dk1"/>
              </a:solidFill>
            </a:endParaRPr>
          </a:p>
        </p:txBody>
      </p:sp>
      <p:sp>
        <p:nvSpPr>
          <p:cNvPr id="115" name="타원 83"/>
          <p:cNvSpPr/>
          <p:nvPr/>
        </p:nvSpPr>
        <p:spPr>
          <a:xfrm>
            <a:off x="1328480" y="401728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16" name=""/>
          <p:cNvSpPr/>
          <p:nvPr/>
        </p:nvSpPr>
        <p:spPr>
          <a:xfrm>
            <a:off x="581024" y="4752975"/>
            <a:ext cx="818893" cy="33337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주문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117" name=""/>
          <p:cNvSpPr/>
          <p:nvPr/>
        </p:nvSpPr>
        <p:spPr>
          <a:xfrm>
            <a:off x="1399917" y="4752975"/>
            <a:ext cx="904158" cy="33337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정보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8" name=""/>
          <p:cNvSpPr/>
          <p:nvPr/>
        </p:nvSpPr>
        <p:spPr>
          <a:xfrm>
            <a:off x="2304076" y="4752975"/>
            <a:ext cx="902432" cy="33337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리뷰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9" name="타원 83"/>
          <p:cNvSpPr/>
          <p:nvPr/>
        </p:nvSpPr>
        <p:spPr>
          <a:xfrm>
            <a:off x="549422" y="468153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20" name=""/>
          <p:cNvSpPr/>
          <p:nvPr/>
        </p:nvSpPr>
        <p:spPr>
          <a:xfrm>
            <a:off x="581024" y="5086350"/>
            <a:ext cx="2625484" cy="104775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탭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60" name=""/>
          <p:cNvSpPr/>
          <p:nvPr/>
        </p:nvSpPr>
        <p:spPr>
          <a:xfrm>
            <a:off x="3899755" y="1123603"/>
            <a:ext cx="3643671" cy="515210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61" name=""/>
          <p:cNvSpPr/>
          <p:nvPr/>
        </p:nvSpPr>
        <p:spPr>
          <a:xfrm>
            <a:off x="4206199" y="1392418"/>
            <a:ext cx="2961262" cy="9144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62" name="타원 83"/>
          <p:cNvSpPr/>
          <p:nvPr/>
        </p:nvSpPr>
        <p:spPr>
          <a:xfrm>
            <a:off x="3828317" y="105216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7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63" name=""/>
          <p:cNvSpPr/>
          <p:nvPr/>
        </p:nvSpPr>
        <p:spPr>
          <a:xfrm>
            <a:off x="5305627" y="1601281"/>
            <a:ext cx="790372" cy="59159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별</a:t>
            </a:r>
            <a:endParaRPr lang="ko-KR" altLang="en-US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en-US" altLang="ko-KR">
                <a:solidFill>
                  <a:schemeClr val="dk1"/>
                </a:solidFill>
              </a:rPr>
              <a:t>4.5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164" name=""/>
          <p:cNvSpPr/>
          <p:nvPr/>
        </p:nvSpPr>
        <p:spPr>
          <a:xfrm>
            <a:off x="4206199" y="2498330"/>
            <a:ext cx="2961262" cy="120132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글 상자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65" name="타원 83"/>
          <p:cNvSpPr/>
          <p:nvPr/>
        </p:nvSpPr>
        <p:spPr>
          <a:xfrm>
            <a:off x="4134761" y="139241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8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66" name="타원 83"/>
          <p:cNvSpPr/>
          <p:nvPr/>
        </p:nvSpPr>
        <p:spPr>
          <a:xfrm>
            <a:off x="6516011" y="377467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9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67" name=""/>
          <p:cNvSpPr/>
          <p:nvPr/>
        </p:nvSpPr>
        <p:spPr>
          <a:xfrm>
            <a:off x="6587449" y="3861537"/>
            <a:ext cx="580012" cy="25491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작성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168" name=""/>
          <p:cNvSpPr/>
          <p:nvPr/>
        </p:nvSpPr>
        <p:spPr>
          <a:xfrm>
            <a:off x="4206199" y="4310299"/>
            <a:ext cx="2961262" cy="181785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9" name=""/>
          <p:cNvSpPr/>
          <p:nvPr/>
        </p:nvSpPr>
        <p:spPr>
          <a:xfrm>
            <a:off x="4391988" y="4681537"/>
            <a:ext cx="2589684" cy="129992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0" name=""/>
          <p:cNvSpPr/>
          <p:nvPr/>
        </p:nvSpPr>
        <p:spPr>
          <a:xfrm>
            <a:off x="4530455" y="5086350"/>
            <a:ext cx="2347000" cy="76949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리뷰내용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71" name=""/>
          <p:cNvSpPr/>
          <p:nvPr/>
        </p:nvSpPr>
        <p:spPr>
          <a:xfrm>
            <a:off x="4530455" y="4752975"/>
            <a:ext cx="962632" cy="26193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작성자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172" name=""/>
          <p:cNvSpPr/>
          <p:nvPr/>
        </p:nvSpPr>
        <p:spPr>
          <a:xfrm>
            <a:off x="6030058" y="4752975"/>
            <a:ext cx="847397" cy="26193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평점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173" name="타원 83"/>
          <p:cNvSpPr/>
          <p:nvPr/>
        </p:nvSpPr>
        <p:spPr>
          <a:xfrm>
            <a:off x="4320550" y="4565211"/>
            <a:ext cx="209904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10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06-1.(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리뷰 작성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7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2225191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3058410" y="1268760"/>
            <a:ext cx="1239708" cy="628317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tx1"/>
                </a:solidFill>
              </a:rPr>
              <a:t>로고</a:t>
            </a:r>
            <a:endParaRPr lang="ko-KR" altLang="en-US" sz="900">
              <a:solidFill>
                <a:schemeClr val="tx1"/>
              </a:solidFill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397413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선택한 상품 상세내용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이름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이미지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평점 선택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기본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점 최대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점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내용 박스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파일 첨부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8" name=""/>
          <p:cNvSpPr/>
          <p:nvPr/>
        </p:nvSpPr>
        <p:spPr>
          <a:xfrm>
            <a:off x="2405467" y="1392418"/>
            <a:ext cx="476250" cy="381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09" name=""/>
          <p:cNvCxnSpPr/>
          <p:nvPr/>
        </p:nvCxnSpPr>
        <p:spPr>
          <a:xfrm rot="10800000">
            <a:off x="2445303" y="1582918"/>
            <a:ext cx="407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"/>
          <p:cNvSpPr txBox="1"/>
          <p:nvPr/>
        </p:nvSpPr>
        <p:spPr>
          <a:xfrm>
            <a:off x="2225191" y="2032118"/>
            <a:ext cx="2898228" cy="284783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1300"/>
              <a:t>상품 이름</a:t>
            </a:r>
            <a:endParaRPr lang="ko-KR" altLang="en-US" sz="1300"/>
          </a:p>
        </p:txBody>
      </p:sp>
      <p:sp>
        <p:nvSpPr>
          <p:cNvPr id="111" name=""/>
          <p:cNvSpPr/>
          <p:nvPr/>
        </p:nvSpPr>
        <p:spPr>
          <a:xfrm>
            <a:off x="2389097" y="2426892"/>
            <a:ext cx="2570416" cy="141922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500">
                <a:solidFill>
                  <a:schemeClr val="dk1"/>
                </a:solidFill>
              </a:rPr>
              <a:t>상품 대표 이미지</a:t>
            </a:r>
            <a:endParaRPr lang="ko-KR" altLang="en-US" sz="1500">
              <a:solidFill>
                <a:schemeClr val="dk1"/>
              </a:solidFill>
            </a:endParaRPr>
          </a:p>
        </p:txBody>
      </p:sp>
      <p:sp>
        <p:nvSpPr>
          <p:cNvPr id="112" name="타원 83"/>
          <p:cNvSpPr/>
          <p:nvPr/>
        </p:nvSpPr>
        <p:spPr>
          <a:xfrm>
            <a:off x="3207982" y="203211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13" name="타원 83"/>
          <p:cNvSpPr/>
          <p:nvPr/>
        </p:nvSpPr>
        <p:spPr>
          <a:xfrm>
            <a:off x="2334029" y="235545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14" name=""/>
          <p:cNvSpPr/>
          <p:nvPr/>
        </p:nvSpPr>
        <p:spPr>
          <a:xfrm>
            <a:off x="3081485" y="4055387"/>
            <a:ext cx="1090136" cy="50982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평점 선택</a:t>
            </a:r>
            <a:endParaRPr lang="ko-KR" altLang="en-US" sz="1000">
              <a:solidFill>
                <a:schemeClr val="dk1"/>
              </a:solidFill>
            </a:endParaRPr>
          </a:p>
        </p:txBody>
      </p:sp>
      <p:sp>
        <p:nvSpPr>
          <p:cNvPr id="115" name="타원 83"/>
          <p:cNvSpPr/>
          <p:nvPr/>
        </p:nvSpPr>
        <p:spPr>
          <a:xfrm>
            <a:off x="3081485" y="401728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20" name=""/>
          <p:cNvSpPr/>
          <p:nvPr/>
        </p:nvSpPr>
        <p:spPr>
          <a:xfrm>
            <a:off x="2334029" y="4791630"/>
            <a:ext cx="2625484" cy="104775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내용 작성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174" name=""/>
          <p:cNvSpPr/>
          <p:nvPr/>
        </p:nvSpPr>
        <p:spPr>
          <a:xfrm>
            <a:off x="2334029" y="5839380"/>
            <a:ext cx="2625484" cy="32486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파일 첨부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175" name="타원 83"/>
          <p:cNvSpPr/>
          <p:nvPr/>
        </p:nvSpPr>
        <p:spPr>
          <a:xfrm>
            <a:off x="2317659" y="479163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76" name="타원 83"/>
          <p:cNvSpPr/>
          <p:nvPr/>
        </p:nvSpPr>
        <p:spPr>
          <a:xfrm>
            <a:off x="2246221" y="5767942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07.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장바구니 화면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7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644906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1415202" y="1268759"/>
            <a:ext cx="1239708" cy="628317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tx1"/>
                </a:solidFill>
              </a:rPr>
              <a:t>로고</a:t>
            </a:r>
            <a:endParaRPr lang="ko-KR" altLang="en-US" sz="900">
              <a:solidFill>
                <a:schemeClr val="tx1"/>
              </a:solidFill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345892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사용자가 담아 놓은 장바구니 관리 페이지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장바구니 상품 목록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장바구니 상품 총 금액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결제 페이지로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장바구니에서 상품 삭제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8" name=""/>
          <p:cNvSpPr/>
          <p:nvPr/>
        </p:nvSpPr>
        <p:spPr>
          <a:xfrm>
            <a:off x="652462" y="1392418"/>
            <a:ext cx="476250" cy="381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09" name=""/>
          <p:cNvCxnSpPr/>
          <p:nvPr/>
        </p:nvCxnSpPr>
        <p:spPr>
          <a:xfrm rot="10800000">
            <a:off x="692298" y="1582918"/>
            <a:ext cx="407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"/>
          <p:cNvSpPr/>
          <p:nvPr/>
        </p:nvSpPr>
        <p:spPr>
          <a:xfrm>
            <a:off x="652462" y="2268773"/>
            <a:ext cx="2901234" cy="400693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4" name=""/>
          <p:cNvSpPr/>
          <p:nvPr/>
        </p:nvSpPr>
        <p:spPr>
          <a:xfrm>
            <a:off x="801836" y="2473012"/>
            <a:ext cx="2560705" cy="122664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5" name=""/>
          <p:cNvSpPr/>
          <p:nvPr/>
        </p:nvSpPr>
        <p:spPr>
          <a:xfrm>
            <a:off x="905742" y="2550851"/>
            <a:ext cx="1011213" cy="1038728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/>
              <a:t>이미지</a:t>
            </a:r>
            <a:endParaRPr lang="ko-KR" altLang="en-US" sz="1300"/>
          </a:p>
        </p:txBody>
      </p:sp>
      <p:sp>
        <p:nvSpPr>
          <p:cNvPr id="176" name="타원 83"/>
          <p:cNvSpPr/>
          <p:nvPr/>
        </p:nvSpPr>
        <p:spPr>
          <a:xfrm>
            <a:off x="581024" y="219733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78" name=""/>
          <p:cNvSpPr/>
          <p:nvPr/>
        </p:nvSpPr>
        <p:spPr>
          <a:xfrm>
            <a:off x="2082188" y="2587312"/>
            <a:ext cx="1070181" cy="26575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/>
              <a:t>이름</a:t>
            </a:r>
            <a:endParaRPr lang="ko-KR" altLang="en-US" sz="1300"/>
          </a:p>
        </p:txBody>
      </p:sp>
      <p:sp>
        <p:nvSpPr>
          <p:cNvPr id="179" name=""/>
          <p:cNvSpPr/>
          <p:nvPr/>
        </p:nvSpPr>
        <p:spPr>
          <a:xfrm>
            <a:off x="2080251" y="2941926"/>
            <a:ext cx="1070181" cy="256577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수량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1" name=""/>
          <p:cNvSpPr/>
          <p:nvPr/>
        </p:nvSpPr>
        <p:spPr>
          <a:xfrm>
            <a:off x="2076344" y="3319761"/>
            <a:ext cx="1070181" cy="256577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가격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2" name=""/>
          <p:cNvSpPr/>
          <p:nvPr/>
        </p:nvSpPr>
        <p:spPr>
          <a:xfrm>
            <a:off x="786681" y="3892186"/>
            <a:ext cx="2560705" cy="122664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3" name=""/>
          <p:cNvSpPr/>
          <p:nvPr/>
        </p:nvSpPr>
        <p:spPr>
          <a:xfrm>
            <a:off x="890587" y="3970025"/>
            <a:ext cx="1011213" cy="1038728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이미지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4" name=""/>
          <p:cNvSpPr/>
          <p:nvPr/>
        </p:nvSpPr>
        <p:spPr>
          <a:xfrm>
            <a:off x="2067033" y="4006486"/>
            <a:ext cx="1070181" cy="265753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5" name=""/>
          <p:cNvSpPr/>
          <p:nvPr/>
        </p:nvSpPr>
        <p:spPr>
          <a:xfrm>
            <a:off x="2065096" y="4361100"/>
            <a:ext cx="1070181" cy="256577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수량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6" name=""/>
          <p:cNvSpPr/>
          <p:nvPr/>
        </p:nvSpPr>
        <p:spPr>
          <a:xfrm>
            <a:off x="2061189" y="4738935"/>
            <a:ext cx="1070181" cy="256577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가격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7" name=""/>
          <p:cNvSpPr/>
          <p:nvPr/>
        </p:nvSpPr>
        <p:spPr>
          <a:xfrm>
            <a:off x="652462" y="5612656"/>
            <a:ext cx="2901234" cy="6630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8" name="타원 83"/>
          <p:cNvSpPr/>
          <p:nvPr/>
        </p:nvSpPr>
        <p:spPr>
          <a:xfrm>
            <a:off x="581024" y="554121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99" name=""/>
          <p:cNvSpPr/>
          <p:nvPr/>
        </p:nvSpPr>
        <p:spPr>
          <a:xfrm>
            <a:off x="652462" y="5944181"/>
            <a:ext cx="2901234" cy="331525"/>
          </a:xfrm>
          <a:prstGeom prst="rect">
            <a:avLst/>
          </a:prstGeom>
          <a:solidFill>
            <a:srgbClr val="9be5c8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주문하기</a:t>
            </a:r>
            <a:endParaRPr lang="ko-KR" altLang="en-US"/>
          </a:p>
        </p:txBody>
      </p:sp>
      <p:sp>
        <p:nvSpPr>
          <p:cNvPr id="201" name="타원 83"/>
          <p:cNvSpPr/>
          <p:nvPr/>
        </p:nvSpPr>
        <p:spPr>
          <a:xfrm>
            <a:off x="620860" y="587274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02" name=""/>
          <p:cNvSpPr/>
          <p:nvPr/>
        </p:nvSpPr>
        <p:spPr>
          <a:xfrm>
            <a:off x="1100136" y="5684094"/>
            <a:ext cx="1869840" cy="188649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1300"/>
              <a:t>10000</a:t>
            </a:r>
            <a:r>
              <a:rPr lang="ko-KR" altLang="en-US" sz="1300"/>
              <a:t>원</a:t>
            </a:r>
            <a:endParaRPr lang="ko-KR" altLang="en-US" sz="1300"/>
          </a:p>
        </p:txBody>
      </p:sp>
      <p:sp>
        <p:nvSpPr>
          <p:cNvPr id="203" name=""/>
          <p:cNvSpPr/>
          <p:nvPr/>
        </p:nvSpPr>
        <p:spPr>
          <a:xfrm>
            <a:off x="3234706" y="2397906"/>
            <a:ext cx="206310" cy="210639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/>
              <a:t>x</a:t>
            </a:r>
            <a:endParaRPr lang="en-US" altLang="ko-KR"/>
          </a:p>
        </p:txBody>
      </p:sp>
      <p:sp>
        <p:nvSpPr>
          <p:cNvPr id="204" name="타원 83"/>
          <p:cNvSpPr/>
          <p:nvPr/>
        </p:nvSpPr>
        <p:spPr>
          <a:xfrm>
            <a:off x="3163268" y="232646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08.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결제 화면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8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sp>
        <p:nvSpPr>
          <p:cNvPr id="79" name="Shape 434"/>
          <p:cNvSpPr/>
          <p:nvPr/>
        </p:nvSpPr>
        <p:spPr>
          <a:xfrm>
            <a:off x="644906" y="1123603"/>
            <a:ext cx="2908790" cy="5152103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324" tIns="45324" rIns="45324" bIns="45324"/>
          <a:lstStyle/>
          <a:p>
            <a:pPr algn="ctr" defTabSz="906145" latinLnBrk="0" hangingPunct="0">
              <a:lnSpc>
                <a:spcPct val="120000"/>
              </a:lnSpc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sz="700" b="1" kern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1415202" y="1268759"/>
            <a:ext cx="1239708" cy="628317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900">
                <a:solidFill>
                  <a:schemeClr val="tx1"/>
                </a:solidFill>
              </a:rPr>
              <a:t>로고</a:t>
            </a:r>
            <a:endParaRPr lang="ko-KR" altLang="en-US" sz="900">
              <a:solidFill>
                <a:schemeClr val="tx1"/>
              </a:solidFill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397413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장바구니에 있는 상품들 결제 페이지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내 주소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사용자가 저장한 주소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주소 검색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다음 주소검색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api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주문내역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구매할 상품들 전체 가격과 수량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쿠폰 선택 버튼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선택후 쿠폰 이름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쿠폰으로 할인되는 금액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가격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결제 버튼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8" name=""/>
          <p:cNvSpPr/>
          <p:nvPr/>
        </p:nvSpPr>
        <p:spPr>
          <a:xfrm>
            <a:off x="652462" y="1392418"/>
            <a:ext cx="476250" cy="381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cxnSp>
        <p:nvCxnSpPr>
          <p:cNvPr id="109" name=""/>
          <p:cNvCxnSpPr/>
          <p:nvPr/>
        </p:nvCxnSpPr>
        <p:spPr>
          <a:xfrm rot="10800000">
            <a:off x="692298" y="1582918"/>
            <a:ext cx="40783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"/>
          <p:cNvSpPr/>
          <p:nvPr/>
        </p:nvSpPr>
        <p:spPr>
          <a:xfrm>
            <a:off x="652462" y="2268773"/>
            <a:ext cx="2901234" cy="400693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652462" y="5612656"/>
            <a:ext cx="2901234" cy="6630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8" name="타원 83"/>
          <p:cNvSpPr/>
          <p:nvPr/>
        </p:nvSpPr>
        <p:spPr>
          <a:xfrm>
            <a:off x="581024" y="554121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99" name=""/>
          <p:cNvSpPr/>
          <p:nvPr/>
        </p:nvSpPr>
        <p:spPr>
          <a:xfrm>
            <a:off x="652462" y="5944181"/>
            <a:ext cx="2901234" cy="331525"/>
          </a:xfrm>
          <a:prstGeom prst="rect">
            <a:avLst/>
          </a:prstGeom>
          <a:solidFill>
            <a:srgbClr val="9be5c8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결제하기</a:t>
            </a:r>
            <a:endParaRPr lang="ko-KR" altLang="en-US"/>
          </a:p>
        </p:txBody>
      </p:sp>
      <p:sp>
        <p:nvSpPr>
          <p:cNvPr id="201" name="타원 83"/>
          <p:cNvSpPr/>
          <p:nvPr/>
        </p:nvSpPr>
        <p:spPr>
          <a:xfrm>
            <a:off x="620860" y="587274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02" name=""/>
          <p:cNvSpPr/>
          <p:nvPr/>
        </p:nvSpPr>
        <p:spPr>
          <a:xfrm>
            <a:off x="1100136" y="5684094"/>
            <a:ext cx="1869840" cy="188649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1300"/>
              <a:t>10000</a:t>
            </a:r>
            <a:r>
              <a:rPr lang="ko-KR" altLang="en-US" sz="1300"/>
              <a:t>원</a:t>
            </a:r>
            <a:endParaRPr lang="ko-KR" altLang="en-US" sz="1300"/>
          </a:p>
        </p:txBody>
      </p:sp>
      <p:sp>
        <p:nvSpPr>
          <p:cNvPr id="209" name=""/>
          <p:cNvSpPr/>
          <p:nvPr/>
        </p:nvSpPr>
        <p:spPr>
          <a:xfrm>
            <a:off x="663723" y="2263106"/>
            <a:ext cx="2889973" cy="130715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6" name=""/>
          <p:cNvSpPr/>
          <p:nvPr/>
        </p:nvSpPr>
        <p:spPr>
          <a:xfrm>
            <a:off x="766900" y="2702781"/>
            <a:ext cx="2672357" cy="300568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주소</a:t>
            </a:r>
            <a:r>
              <a:rPr lang="en-US" altLang="ko-KR" sz="1100">
                <a:solidFill>
                  <a:schemeClr val="dk1"/>
                </a:solidFill>
              </a:rPr>
              <a:t>1</a:t>
            </a:r>
            <a:endParaRPr lang="en-US" altLang="ko-KR" sz="1100">
              <a:solidFill>
                <a:schemeClr val="dk1"/>
              </a:solidFill>
            </a:endParaRPr>
          </a:p>
        </p:txBody>
      </p:sp>
      <p:sp>
        <p:nvSpPr>
          <p:cNvPr id="207" name=""/>
          <p:cNvSpPr/>
          <p:nvPr/>
        </p:nvSpPr>
        <p:spPr>
          <a:xfrm>
            <a:off x="766900" y="3128431"/>
            <a:ext cx="2672357" cy="3005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2(</a:t>
            </a: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상세주소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0" name="타원 83"/>
          <p:cNvSpPr/>
          <p:nvPr/>
        </p:nvSpPr>
        <p:spPr>
          <a:xfrm>
            <a:off x="573468" y="219733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11" name=""/>
          <p:cNvSpPr/>
          <p:nvPr/>
        </p:nvSpPr>
        <p:spPr>
          <a:xfrm>
            <a:off x="652462" y="3699654"/>
            <a:ext cx="2901234" cy="184156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2" name=""/>
          <p:cNvSpPr/>
          <p:nvPr/>
        </p:nvSpPr>
        <p:spPr>
          <a:xfrm>
            <a:off x="774456" y="4149468"/>
            <a:ext cx="2672357" cy="3005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상품명 	가격	수량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14" name="타원 83"/>
          <p:cNvSpPr/>
          <p:nvPr/>
        </p:nvSpPr>
        <p:spPr>
          <a:xfrm>
            <a:off x="573468" y="369965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15" name=""/>
          <p:cNvSpPr/>
          <p:nvPr/>
        </p:nvSpPr>
        <p:spPr>
          <a:xfrm>
            <a:off x="763122" y="4575119"/>
            <a:ext cx="2672357" cy="3005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상품명	가격	수량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16" name=""/>
          <p:cNvSpPr/>
          <p:nvPr/>
        </p:nvSpPr>
        <p:spPr>
          <a:xfrm>
            <a:off x="774456" y="5024034"/>
            <a:ext cx="2672357" cy="3005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상품명	가격	수량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17" name=""/>
          <p:cNvSpPr/>
          <p:nvPr/>
        </p:nvSpPr>
        <p:spPr>
          <a:xfrm>
            <a:off x="774456" y="3743421"/>
            <a:ext cx="1460878" cy="33419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주문내역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240" name=""/>
          <p:cNvSpPr/>
          <p:nvPr/>
        </p:nvSpPr>
        <p:spPr>
          <a:xfrm>
            <a:off x="774456" y="2340211"/>
            <a:ext cx="1260600" cy="24268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내 주소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241" name=""/>
          <p:cNvSpPr/>
          <p:nvPr/>
        </p:nvSpPr>
        <p:spPr>
          <a:xfrm>
            <a:off x="2167784" y="2340210"/>
            <a:ext cx="1260600" cy="24268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chemeClr val="dk1">
                <a:alpha val="100000"/>
              </a:scheme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주소검색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4" name="Shape 434"/>
          <p:cNvSpPr/>
          <p:nvPr/>
        </p:nvSpPr>
        <p:spPr>
          <a:xfrm>
            <a:off x="4097329" y="1123601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5" name="타원 50"/>
          <p:cNvSpPr/>
          <p:nvPr/>
        </p:nvSpPr>
        <p:spPr>
          <a:xfrm>
            <a:off x="4856292" y="1296430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6" name=""/>
          <p:cNvSpPr/>
          <p:nvPr/>
        </p:nvSpPr>
        <p:spPr>
          <a:xfrm>
            <a:off x="4093552" y="1420089"/>
            <a:ext cx="476250" cy="381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267" name=""/>
          <p:cNvCxnSpPr/>
          <p:nvPr/>
        </p:nvCxnSpPr>
        <p:spPr>
          <a:xfrm rot="10800000">
            <a:off x="4133388" y="1610589"/>
            <a:ext cx="407838" cy="0"/>
          </a:xfrm>
          <a:prstGeom prst="straightConnector1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268" name=""/>
          <p:cNvSpPr/>
          <p:nvPr/>
        </p:nvSpPr>
        <p:spPr>
          <a:xfrm>
            <a:off x="4093552" y="2296444"/>
            <a:ext cx="2901234" cy="400693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9" name=""/>
          <p:cNvSpPr/>
          <p:nvPr/>
        </p:nvSpPr>
        <p:spPr>
          <a:xfrm>
            <a:off x="4093552" y="5640327"/>
            <a:ext cx="2901234" cy="663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0" name="타원 83"/>
          <p:cNvSpPr/>
          <p:nvPr/>
        </p:nvSpPr>
        <p:spPr>
          <a:xfrm>
            <a:off x="4022114" y="556888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71" name=""/>
          <p:cNvSpPr/>
          <p:nvPr/>
        </p:nvSpPr>
        <p:spPr>
          <a:xfrm>
            <a:off x="4093552" y="5971852"/>
            <a:ext cx="2901234" cy="331525"/>
          </a:xfrm>
          <a:prstGeom prst="rect">
            <a:avLst/>
          </a:prstGeom>
          <a:solidFill>
            <a:srgbClr val="9be5c8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결제하기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2" name="타원 83"/>
          <p:cNvSpPr/>
          <p:nvPr/>
        </p:nvSpPr>
        <p:spPr>
          <a:xfrm>
            <a:off x="4061950" y="590041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73" name=""/>
          <p:cNvSpPr/>
          <p:nvPr/>
        </p:nvSpPr>
        <p:spPr>
          <a:xfrm>
            <a:off x="4541226" y="5711765"/>
            <a:ext cx="1869840" cy="188649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10000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원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4" name=""/>
          <p:cNvSpPr/>
          <p:nvPr/>
        </p:nvSpPr>
        <p:spPr>
          <a:xfrm>
            <a:off x="4085996" y="2296444"/>
            <a:ext cx="2908790" cy="147464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5" name=""/>
          <p:cNvSpPr/>
          <p:nvPr/>
        </p:nvSpPr>
        <p:spPr>
          <a:xfrm>
            <a:off x="4204212" y="2827863"/>
            <a:ext cx="2672357" cy="3005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쿠폰 선택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76" name=""/>
          <p:cNvSpPr/>
          <p:nvPr/>
        </p:nvSpPr>
        <p:spPr>
          <a:xfrm>
            <a:off x="4207990" y="3278716"/>
            <a:ext cx="2672357" cy="3005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쿠폰 적용 금액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7" name="타원 83"/>
          <p:cNvSpPr/>
          <p:nvPr/>
        </p:nvSpPr>
        <p:spPr>
          <a:xfrm>
            <a:off x="4014558" y="2225006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86" name=""/>
          <p:cNvSpPr/>
          <p:nvPr/>
        </p:nvSpPr>
        <p:spPr>
          <a:xfrm>
            <a:off x="4204826" y="2348832"/>
            <a:ext cx="1460878" cy="33419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쿠폰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09.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결제완료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9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26611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결제 완료 페이지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11147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결제 완료 후 홈으로 이동 버튼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결제 후 결제 정보는 관리자에서 관리 가능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결제 후 업체 담당자에게 주문정보 전달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주문정보 전달 방식은 휴대폰 문자 및 카카오톡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결제 완료후 사용자의 카카오톡으로 주문정보 전달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4" name="Shape 434"/>
          <p:cNvSpPr/>
          <p:nvPr/>
        </p:nvSpPr>
        <p:spPr>
          <a:xfrm>
            <a:off x="3899755" y="1123603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5" name="타원 50"/>
          <p:cNvSpPr/>
          <p:nvPr/>
        </p:nvSpPr>
        <p:spPr>
          <a:xfrm>
            <a:off x="4734917" y="1296431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7" name=""/>
          <p:cNvSpPr/>
          <p:nvPr/>
        </p:nvSpPr>
        <p:spPr>
          <a:xfrm>
            <a:off x="4326273" y="2223175"/>
            <a:ext cx="2056995" cy="70930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결제해주셔서</a:t>
            </a:r>
            <a:endParaRPr lang="ko-KR" altLang="en-US" sz="12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감사합니다</a:t>
            </a:r>
            <a:r>
              <a:rPr lang="en-US" altLang="ko-KR" sz="1200">
                <a:solidFill>
                  <a:schemeClr val="dk1"/>
                </a:solidFill>
              </a:rPr>
              <a:t>.</a:t>
            </a:r>
            <a:endParaRPr lang="en-US" altLang="ko-KR" sz="1200">
              <a:solidFill>
                <a:schemeClr val="dk1"/>
              </a:solidFill>
            </a:endParaRPr>
          </a:p>
          <a:p>
            <a:pPr algn="ctr">
              <a:defRPr/>
            </a:pPr>
            <a:endParaRPr lang="en-US" altLang="ko-KR" sz="1200">
              <a:solidFill>
                <a:schemeClr val="dk1"/>
              </a:solidFill>
            </a:endParaRPr>
          </a:p>
        </p:txBody>
      </p:sp>
      <p:sp>
        <p:nvSpPr>
          <p:cNvPr id="288" name=""/>
          <p:cNvSpPr/>
          <p:nvPr/>
        </p:nvSpPr>
        <p:spPr>
          <a:xfrm>
            <a:off x="4013672" y="3110670"/>
            <a:ext cx="2683409" cy="316503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9" name=""/>
          <p:cNvSpPr/>
          <p:nvPr/>
        </p:nvSpPr>
        <p:spPr>
          <a:xfrm>
            <a:off x="4133126" y="3699654"/>
            <a:ext cx="2442048" cy="32425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상품명	가격	수량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290" name=""/>
          <p:cNvSpPr/>
          <p:nvPr/>
        </p:nvSpPr>
        <p:spPr>
          <a:xfrm>
            <a:off x="4133125" y="3221274"/>
            <a:ext cx="1221024" cy="35465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주문내역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291" name=""/>
          <p:cNvSpPr/>
          <p:nvPr/>
        </p:nvSpPr>
        <p:spPr>
          <a:xfrm>
            <a:off x="4621651" y="2687873"/>
            <a:ext cx="1474348" cy="18746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집모양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292" name="타원 83"/>
          <p:cNvSpPr/>
          <p:nvPr/>
        </p:nvSpPr>
        <p:spPr>
          <a:xfrm>
            <a:off x="4550213" y="263872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93" name=""/>
          <p:cNvSpPr/>
          <p:nvPr/>
        </p:nvSpPr>
        <p:spPr>
          <a:xfrm>
            <a:off x="4133125" y="4146033"/>
            <a:ext cx="2442048" cy="32425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상품명	가격	수량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4" name=""/>
          <p:cNvSpPr/>
          <p:nvPr/>
        </p:nvSpPr>
        <p:spPr>
          <a:xfrm>
            <a:off x="4133125" y="4582982"/>
            <a:ext cx="2442048" cy="32425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상품명	가격	수량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5" name=""/>
          <p:cNvSpPr/>
          <p:nvPr/>
        </p:nvSpPr>
        <p:spPr>
          <a:xfrm>
            <a:off x="4133126" y="5527782"/>
            <a:ext cx="2442048" cy="74792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주문 배송지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297" name=""/>
          <p:cNvSpPr/>
          <p:nvPr/>
        </p:nvSpPr>
        <p:spPr>
          <a:xfrm>
            <a:off x="4137802" y="5021538"/>
            <a:ext cx="1221024" cy="37289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주문내역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10.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마이페이지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10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473232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마이페이지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로그인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로그아웃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내 배송지 설정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내 구매내역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내 찜목록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공지사항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장바구니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내 리뷰 목록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문의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6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각 메뉴로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7" name="Shape 434"/>
          <p:cNvSpPr/>
          <p:nvPr/>
        </p:nvSpPr>
        <p:spPr>
          <a:xfrm>
            <a:off x="1881887" y="1123603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88" name="타원 50"/>
          <p:cNvSpPr/>
          <p:nvPr/>
        </p:nvSpPr>
        <p:spPr>
          <a:xfrm>
            <a:off x="2715106" y="1268760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1" name=""/>
          <p:cNvSpPr/>
          <p:nvPr/>
        </p:nvSpPr>
        <p:spPr>
          <a:xfrm>
            <a:off x="1892449" y="5825449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292" name=""/>
          <p:cNvGraphicFramePr>
            <a:graphicFrameLocks noGrp="1"/>
          </p:cNvGraphicFramePr>
          <p:nvPr/>
        </p:nvGraphicFramePr>
        <p:xfrm>
          <a:off x="1881886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7" name="타원 83"/>
          <p:cNvSpPr/>
          <p:nvPr/>
        </p:nvSpPr>
        <p:spPr>
          <a:xfrm>
            <a:off x="1810448" y="582544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6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98" name=""/>
          <p:cNvSpPr/>
          <p:nvPr/>
        </p:nvSpPr>
        <p:spPr>
          <a:xfrm>
            <a:off x="1881886" y="2022748"/>
            <a:ext cx="2896833" cy="380270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9" name=""/>
          <p:cNvSpPr/>
          <p:nvPr/>
        </p:nvSpPr>
        <p:spPr>
          <a:xfrm>
            <a:off x="1892449" y="2022748"/>
            <a:ext cx="720090" cy="66147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900">
                <a:solidFill>
                  <a:schemeClr val="dk1"/>
                </a:solidFill>
              </a:rPr>
              <a:t>로그인</a:t>
            </a:r>
            <a:endParaRPr lang="ko-KR" altLang="en-US" sz="9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900">
                <a:solidFill>
                  <a:schemeClr val="dk1"/>
                </a:solidFill>
              </a:rPr>
              <a:t>로그아웃</a:t>
            </a:r>
            <a:endParaRPr lang="ko-KR" altLang="en-US" sz="900">
              <a:solidFill>
                <a:schemeClr val="dk1"/>
              </a:solidFill>
            </a:endParaRPr>
          </a:p>
        </p:txBody>
      </p:sp>
      <p:sp>
        <p:nvSpPr>
          <p:cNvPr id="302" name=""/>
          <p:cNvSpPr/>
          <p:nvPr/>
        </p:nvSpPr>
        <p:spPr>
          <a:xfrm>
            <a:off x="2610212" y="2022747"/>
            <a:ext cx="720090" cy="66147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배송지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3" name=""/>
          <p:cNvSpPr/>
          <p:nvPr/>
        </p:nvSpPr>
        <p:spPr>
          <a:xfrm>
            <a:off x="3330302" y="2022747"/>
            <a:ext cx="720090" cy="66147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구매내역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4" name=""/>
          <p:cNvSpPr/>
          <p:nvPr/>
        </p:nvSpPr>
        <p:spPr>
          <a:xfrm>
            <a:off x="4050392" y="2022748"/>
            <a:ext cx="720090" cy="66147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찜목록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5" name="타원 83"/>
          <p:cNvSpPr/>
          <p:nvPr/>
        </p:nvSpPr>
        <p:spPr>
          <a:xfrm>
            <a:off x="1821011" y="195130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06" name=""/>
          <p:cNvSpPr/>
          <p:nvPr/>
        </p:nvSpPr>
        <p:spPr>
          <a:xfrm>
            <a:off x="1882924" y="2693751"/>
            <a:ext cx="2887558" cy="42644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공지사항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307" name=""/>
          <p:cNvSpPr/>
          <p:nvPr/>
        </p:nvSpPr>
        <p:spPr>
          <a:xfrm>
            <a:off x="1884069" y="3107330"/>
            <a:ext cx="2886413" cy="426444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장바구니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8" name=""/>
          <p:cNvSpPr/>
          <p:nvPr/>
        </p:nvSpPr>
        <p:spPr>
          <a:xfrm>
            <a:off x="1891411" y="3533775"/>
            <a:ext cx="2879071" cy="426444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리뷰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9" name="타원 83"/>
          <p:cNvSpPr/>
          <p:nvPr/>
        </p:nvSpPr>
        <p:spPr>
          <a:xfrm>
            <a:off x="1821011" y="262231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10" name="타원 83"/>
          <p:cNvSpPr/>
          <p:nvPr/>
        </p:nvSpPr>
        <p:spPr>
          <a:xfrm>
            <a:off x="1821011" y="3035892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11" name="타원 83"/>
          <p:cNvSpPr/>
          <p:nvPr/>
        </p:nvSpPr>
        <p:spPr>
          <a:xfrm>
            <a:off x="1821011" y="342900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12" name=""/>
          <p:cNvSpPr/>
          <p:nvPr/>
        </p:nvSpPr>
        <p:spPr>
          <a:xfrm>
            <a:off x="1892556" y="3960219"/>
            <a:ext cx="2879071" cy="426444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문의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3" name="타원 83"/>
          <p:cNvSpPr/>
          <p:nvPr/>
        </p:nvSpPr>
        <p:spPr>
          <a:xfrm>
            <a:off x="1841206" y="387449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11.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구매내역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11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350958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65874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사용자의 주문내역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및 결제내역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해당 결제 최종 금액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상세 내역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내역 중 첫번째 상품 이미지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7" name="Shape 434"/>
          <p:cNvSpPr/>
          <p:nvPr/>
        </p:nvSpPr>
        <p:spPr>
          <a:xfrm>
            <a:off x="1881887" y="1123603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88" name="타원 50"/>
          <p:cNvSpPr/>
          <p:nvPr/>
        </p:nvSpPr>
        <p:spPr>
          <a:xfrm>
            <a:off x="2715106" y="1268760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1" name=""/>
          <p:cNvSpPr/>
          <p:nvPr/>
        </p:nvSpPr>
        <p:spPr>
          <a:xfrm>
            <a:off x="1892449" y="5825449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292" name=""/>
          <p:cNvGraphicFramePr>
            <a:graphicFrameLocks noGrp="1"/>
          </p:cNvGraphicFramePr>
          <p:nvPr/>
        </p:nvGraphicFramePr>
        <p:xfrm>
          <a:off x="1881886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7" name="타원 83"/>
          <p:cNvSpPr/>
          <p:nvPr/>
        </p:nvSpPr>
        <p:spPr>
          <a:xfrm>
            <a:off x="1810448" y="582544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98" name=""/>
          <p:cNvSpPr/>
          <p:nvPr/>
        </p:nvSpPr>
        <p:spPr>
          <a:xfrm>
            <a:off x="1881886" y="2022748"/>
            <a:ext cx="2896833" cy="380270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2" name=""/>
          <p:cNvSpPr/>
          <p:nvPr/>
        </p:nvSpPr>
        <p:spPr>
          <a:xfrm>
            <a:off x="1892449" y="2022748"/>
            <a:ext cx="2886270" cy="38788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주문내역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313" name=""/>
          <p:cNvSpPr/>
          <p:nvPr/>
        </p:nvSpPr>
        <p:spPr>
          <a:xfrm>
            <a:off x="1881887" y="2775422"/>
            <a:ext cx="2896832" cy="114867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4" name=""/>
          <p:cNvSpPr/>
          <p:nvPr/>
        </p:nvSpPr>
        <p:spPr>
          <a:xfrm>
            <a:off x="1953324" y="2937550"/>
            <a:ext cx="982920" cy="76210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5" name=""/>
          <p:cNvSpPr/>
          <p:nvPr/>
        </p:nvSpPr>
        <p:spPr>
          <a:xfrm>
            <a:off x="3146604" y="3032826"/>
            <a:ext cx="1440180" cy="19052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날짜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316" name=""/>
          <p:cNvSpPr/>
          <p:nvPr/>
        </p:nvSpPr>
        <p:spPr>
          <a:xfrm>
            <a:off x="3954814" y="3429000"/>
            <a:ext cx="720090" cy="27065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상세보기</a:t>
            </a:r>
            <a:endParaRPr lang="ko-KR" altLang="en-US" sz="1000">
              <a:solidFill>
                <a:schemeClr val="dk1"/>
              </a:solidFill>
            </a:endParaRPr>
          </a:p>
        </p:txBody>
      </p:sp>
      <p:sp>
        <p:nvSpPr>
          <p:cNvPr id="321" name=""/>
          <p:cNvSpPr/>
          <p:nvPr/>
        </p:nvSpPr>
        <p:spPr>
          <a:xfrm>
            <a:off x="3146604" y="3429000"/>
            <a:ext cx="720090" cy="270654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금액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2" name=""/>
          <p:cNvSpPr/>
          <p:nvPr/>
        </p:nvSpPr>
        <p:spPr>
          <a:xfrm>
            <a:off x="1892449" y="4224172"/>
            <a:ext cx="2896832" cy="114867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3" name=""/>
          <p:cNvSpPr/>
          <p:nvPr/>
        </p:nvSpPr>
        <p:spPr>
          <a:xfrm>
            <a:off x="1963886" y="4386299"/>
            <a:ext cx="982920" cy="762104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4" name=""/>
          <p:cNvSpPr/>
          <p:nvPr/>
        </p:nvSpPr>
        <p:spPr>
          <a:xfrm>
            <a:off x="3157166" y="4481575"/>
            <a:ext cx="1440180" cy="19052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5" name=""/>
          <p:cNvSpPr/>
          <p:nvPr/>
        </p:nvSpPr>
        <p:spPr>
          <a:xfrm>
            <a:off x="3965376" y="4877749"/>
            <a:ext cx="720090" cy="270654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상세보기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6" name=""/>
          <p:cNvSpPr/>
          <p:nvPr/>
        </p:nvSpPr>
        <p:spPr>
          <a:xfrm>
            <a:off x="3157166" y="4877749"/>
            <a:ext cx="720090" cy="270654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금액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7" name="타원 83"/>
          <p:cNvSpPr/>
          <p:nvPr/>
        </p:nvSpPr>
        <p:spPr>
          <a:xfrm>
            <a:off x="1810449" y="270398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28" name="타원 83"/>
          <p:cNvSpPr/>
          <p:nvPr/>
        </p:nvSpPr>
        <p:spPr>
          <a:xfrm>
            <a:off x="3877256" y="3357562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29" name="타원 83"/>
          <p:cNvSpPr/>
          <p:nvPr/>
        </p:nvSpPr>
        <p:spPr>
          <a:xfrm>
            <a:off x="3085728" y="3357562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0" name="타원 83"/>
          <p:cNvSpPr/>
          <p:nvPr/>
        </p:nvSpPr>
        <p:spPr>
          <a:xfrm>
            <a:off x="1963886" y="288995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12.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주문 상세내역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12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9335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65874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상세내역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7" name="Shape 434"/>
          <p:cNvSpPr/>
          <p:nvPr/>
        </p:nvSpPr>
        <p:spPr>
          <a:xfrm>
            <a:off x="382206" y="1123603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88" name="타원 50"/>
          <p:cNvSpPr/>
          <p:nvPr/>
        </p:nvSpPr>
        <p:spPr>
          <a:xfrm>
            <a:off x="1215425" y="1268760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1" name=""/>
          <p:cNvSpPr/>
          <p:nvPr/>
        </p:nvSpPr>
        <p:spPr>
          <a:xfrm>
            <a:off x="392768" y="5825449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292" name=""/>
          <p:cNvGraphicFramePr>
            <a:graphicFrameLocks noGrp="1"/>
          </p:cNvGraphicFramePr>
          <p:nvPr/>
        </p:nvGraphicFramePr>
        <p:xfrm>
          <a:off x="382205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8" name=""/>
          <p:cNvSpPr/>
          <p:nvPr/>
        </p:nvSpPr>
        <p:spPr>
          <a:xfrm>
            <a:off x="382205" y="2022748"/>
            <a:ext cx="2896833" cy="380270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31" name=""/>
          <p:cNvSpPr/>
          <p:nvPr/>
        </p:nvSpPr>
        <p:spPr>
          <a:xfrm>
            <a:off x="549836" y="2675699"/>
            <a:ext cx="2536676" cy="79507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33" name=""/>
          <p:cNvSpPr/>
          <p:nvPr/>
        </p:nvSpPr>
        <p:spPr>
          <a:xfrm>
            <a:off x="665132" y="2798728"/>
            <a:ext cx="719441" cy="56744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사진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34" name=""/>
          <p:cNvSpPr/>
          <p:nvPr/>
        </p:nvSpPr>
        <p:spPr>
          <a:xfrm>
            <a:off x="1546701" y="2798729"/>
            <a:ext cx="1327420" cy="21602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상품명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336" name=""/>
          <p:cNvSpPr/>
          <p:nvPr/>
        </p:nvSpPr>
        <p:spPr>
          <a:xfrm>
            <a:off x="1546701" y="3172386"/>
            <a:ext cx="1327420" cy="21602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수량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금액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7" name=""/>
          <p:cNvSpPr/>
          <p:nvPr/>
        </p:nvSpPr>
        <p:spPr>
          <a:xfrm>
            <a:off x="562283" y="3609765"/>
            <a:ext cx="2536676" cy="79507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8" name=""/>
          <p:cNvSpPr/>
          <p:nvPr/>
        </p:nvSpPr>
        <p:spPr>
          <a:xfrm>
            <a:off x="677579" y="3732794"/>
            <a:ext cx="719441" cy="56744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사진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39" name=""/>
          <p:cNvSpPr/>
          <p:nvPr/>
        </p:nvSpPr>
        <p:spPr>
          <a:xfrm>
            <a:off x="1559148" y="3732795"/>
            <a:ext cx="1327420" cy="21602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상품명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0" name=""/>
          <p:cNvSpPr/>
          <p:nvPr/>
        </p:nvSpPr>
        <p:spPr>
          <a:xfrm>
            <a:off x="1559148" y="4106452"/>
            <a:ext cx="1327420" cy="21602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수량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금액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1" name=""/>
          <p:cNvSpPr/>
          <p:nvPr/>
        </p:nvSpPr>
        <p:spPr>
          <a:xfrm>
            <a:off x="562283" y="4570971"/>
            <a:ext cx="2536676" cy="79507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2" name=""/>
          <p:cNvSpPr/>
          <p:nvPr/>
        </p:nvSpPr>
        <p:spPr>
          <a:xfrm>
            <a:off x="677579" y="4694001"/>
            <a:ext cx="719441" cy="56744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사진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3" name=""/>
          <p:cNvSpPr/>
          <p:nvPr/>
        </p:nvSpPr>
        <p:spPr>
          <a:xfrm>
            <a:off x="1559148" y="4694001"/>
            <a:ext cx="1327420" cy="21602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상품명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4" name=""/>
          <p:cNvSpPr/>
          <p:nvPr/>
        </p:nvSpPr>
        <p:spPr>
          <a:xfrm>
            <a:off x="1559148" y="5067659"/>
            <a:ext cx="1327420" cy="21602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수량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금액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4" name="Shape 434"/>
          <p:cNvSpPr/>
          <p:nvPr/>
        </p:nvSpPr>
        <p:spPr>
          <a:xfrm>
            <a:off x="3889193" y="1101365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65" name="타원 50"/>
          <p:cNvSpPr/>
          <p:nvPr/>
        </p:nvSpPr>
        <p:spPr>
          <a:xfrm>
            <a:off x="4722412" y="1246522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6" name=""/>
          <p:cNvSpPr/>
          <p:nvPr/>
        </p:nvSpPr>
        <p:spPr>
          <a:xfrm>
            <a:off x="3899755" y="5803211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7" name=""/>
          <p:cNvGraphicFramePr>
            <a:graphicFrameLocks noGrp="1"/>
          </p:cNvGraphicFramePr>
          <p:nvPr/>
        </p:nvGraphicFramePr>
        <p:xfrm>
          <a:off x="3889192" y="5803212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69" name=""/>
          <p:cNvSpPr/>
          <p:nvPr/>
        </p:nvSpPr>
        <p:spPr>
          <a:xfrm>
            <a:off x="3889192" y="2000510"/>
            <a:ext cx="2896833" cy="380270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2" name=""/>
          <p:cNvSpPr/>
          <p:nvPr/>
        </p:nvSpPr>
        <p:spPr>
          <a:xfrm>
            <a:off x="4074470" y="2155877"/>
            <a:ext cx="2512979" cy="116510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83" name=""/>
          <p:cNvSpPr/>
          <p:nvPr/>
        </p:nvSpPr>
        <p:spPr>
          <a:xfrm>
            <a:off x="4226465" y="2278907"/>
            <a:ext cx="2158324" cy="37365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주소 </a:t>
            </a:r>
            <a:r>
              <a:rPr lang="en-US" altLang="ko-KR">
                <a:solidFill>
                  <a:schemeClr val="dk1"/>
                </a:solidFill>
              </a:rPr>
              <a:t>1</a:t>
            </a:r>
            <a:endParaRPr lang="en-US" altLang="ko-KR">
              <a:solidFill>
                <a:schemeClr val="dk1"/>
              </a:solidFill>
            </a:endParaRPr>
          </a:p>
        </p:txBody>
      </p:sp>
      <p:sp>
        <p:nvSpPr>
          <p:cNvPr id="384" name=""/>
          <p:cNvSpPr/>
          <p:nvPr/>
        </p:nvSpPr>
        <p:spPr>
          <a:xfrm>
            <a:off x="4226465" y="2839315"/>
            <a:ext cx="2158324" cy="373657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6" name=""/>
          <p:cNvSpPr/>
          <p:nvPr/>
        </p:nvSpPr>
        <p:spPr>
          <a:xfrm>
            <a:off x="4074470" y="3429000"/>
            <a:ext cx="2512979" cy="171940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87" name=""/>
          <p:cNvSpPr/>
          <p:nvPr/>
        </p:nvSpPr>
        <p:spPr>
          <a:xfrm>
            <a:off x="4226465" y="3586630"/>
            <a:ext cx="2158324" cy="33746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사용 쿠폰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388" name=""/>
          <p:cNvSpPr/>
          <p:nvPr/>
        </p:nvSpPr>
        <p:spPr>
          <a:xfrm>
            <a:off x="4226466" y="4174179"/>
            <a:ext cx="2158324" cy="3374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배송비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9" name=""/>
          <p:cNvSpPr/>
          <p:nvPr/>
        </p:nvSpPr>
        <p:spPr>
          <a:xfrm>
            <a:off x="4226465" y="4694001"/>
            <a:ext cx="2158324" cy="3374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총 할인 금액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0" name=""/>
          <p:cNvSpPr/>
          <p:nvPr/>
        </p:nvSpPr>
        <p:spPr>
          <a:xfrm>
            <a:off x="4074470" y="5340040"/>
            <a:ext cx="2512979" cy="33746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총 금액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1" name=""/>
          <p:cNvSpPr/>
          <p:nvPr/>
        </p:nvSpPr>
        <p:spPr>
          <a:xfrm>
            <a:off x="677579" y="2155877"/>
            <a:ext cx="2160270" cy="30985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날짜</a:t>
            </a:r>
            <a:endParaRPr lang="ko-KR" altLang="en-US" sz="13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13.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배송지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13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345892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사용자가 저장한 배송지목록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배송지 입력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내 주소 삭제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주소 추가 페이지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주소검색 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api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오픈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입력된 값 추가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7" name="Shape 434"/>
          <p:cNvSpPr/>
          <p:nvPr/>
        </p:nvSpPr>
        <p:spPr>
          <a:xfrm>
            <a:off x="513934" y="1123602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88" name="타원 50"/>
          <p:cNvSpPr/>
          <p:nvPr/>
        </p:nvSpPr>
        <p:spPr>
          <a:xfrm>
            <a:off x="1347153" y="1268759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1" name=""/>
          <p:cNvSpPr/>
          <p:nvPr/>
        </p:nvSpPr>
        <p:spPr>
          <a:xfrm>
            <a:off x="524496" y="5825449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292" name=""/>
          <p:cNvGraphicFramePr>
            <a:graphicFrameLocks noGrp="1"/>
          </p:cNvGraphicFramePr>
          <p:nvPr/>
        </p:nvGraphicFramePr>
        <p:xfrm>
          <a:off x="513933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8" name=""/>
          <p:cNvSpPr/>
          <p:nvPr/>
        </p:nvSpPr>
        <p:spPr>
          <a:xfrm>
            <a:off x="513933" y="2022747"/>
            <a:ext cx="2896833" cy="380270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6" name=""/>
          <p:cNvSpPr/>
          <p:nvPr/>
        </p:nvSpPr>
        <p:spPr>
          <a:xfrm>
            <a:off x="619746" y="2693751"/>
            <a:ext cx="2700337" cy="3960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주소 </a:t>
            </a:r>
            <a:r>
              <a:rPr lang="en-US" altLang="ko-KR" sz="1100">
                <a:solidFill>
                  <a:schemeClr val="dk1"/>
                </a:solidFill>
              </a:rPr>
              <a:t>1</a:t>
            </a:r>
            <a:endParaRPr lang="en-US" altLang="ko-KR" sz="1100">
              <a:solidFill>
                <a:schemeClr val="dk1"/>
              </a:solidFill>
            </a:endParaRPr>
          </a:p>
        </p:txBody>
      </p:sp>
      <p:sp>
        <p:nvSpPr>
          <p:cNvPr id="307" name=""/>
          <p:cNvSpPr/>
          <p:nvPr/>
        </p:nvSpPr>
        <p:spPr>
          <a:xfrm>
            <a:off x="604940" y="3320553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8" name=""/>
          <p:cNvSpPr/>
          <p:nvPr/>
        </p:nvSpPr>
        <p:spPr>
          <a:xfrm>
            <a:off x="623990" y="3893820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2" name=""/>
          <p:cNvSpPr/>
          <p:nvPr/>
        </p:nvSpPr>
        <p:spPr>
          <a:xfrm>
            <a:off x="799086" y="2207367"/>
            <a:ext cx="2304288" cy="28803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내 주소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314" name=""/>
          <p:cNvSpPr/>
          <p:nvPr/>
        </p:nvSpPr>
        <p:spPr>
          <a:xfrm>
            <a:off x="798185" y="5340718"/>
            <a:ext cx="2350850" cy="2938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추가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315" name=""/>
          <p:cNvCxnSpPr/>
          <p:nvPr/>
        </p:nvCxnSpPr>
        <p:spPr>
          <a:xfrm rot="5400000" flipH="1" flipV="1">
            <a:off x="2476472" y="4064361"/>
            <a:ext cx="2058644" cy="7879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Shape 434"/>
          <p:cNvSpPr/>
          <p:nvPr/>
        </p:nvSpPr>
        <p:spPr>
          <a:xfrm>
            <a:off x="4023073" y="1123604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17" name="타원 50"/>
          <p:cNvSpPr/>
          <p:nvPr/>
        </p:nvSpPr>
        <p:spPr>
          <a:xfrm>
            <a:off x="4856292" y="1268761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8" name=""/>
          <p:cNvSpPr/>
          <p:nvPr/>
        </p:nvSpPr>
        <p:spPr>
          <a:xfrm>
            <a:off x="4033635" y="5825450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19" name=""/>
          <p:cNvGraphicFramePr>
            <a:graphicFrameLocks noGrp="1"/>
          </p:cNvGraphicFramePr>
          <p:nvPr/>
        </p:nvGraphicFramePr>
        <p:xfrm>
          <a:off x="4023072" y="5825451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20" name=""/>
          <p:cNvSpPr/>
          <p:nvPr/>
        </p:nvSpPr>
        <p:spPr>
          <a:xfrm>
            <a:off x="4023072" y="2022749"/>
            <a:ext cx="2896833" cy="380270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1" name=""/>
          <p:cNvSpPr/>
          <p:nvPr/>
        </p:nvSpPr>
        <p:spPr>
          <a:xfrm>
            <a:off x="4157324" y="3305255"/>
            <a:ext cx="2628328" cy="36004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우편번호 입력창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22" name=""/>
          <p:cNvSpPr/>
          <p:nvPr/>
        </p:nvSpPr>
        <p:spPr>
          <a:xfrm>
            <a:off x="4140911" y="3822382"/>
            <a:ext cx="2628328" cy="36004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입력창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3" name=""/>
          <p:cNvSpPr/>
          <p:nvPr/>
        </p:nvSpPr>
        <p:spPr>
          <a:xfrm>
            <a:off x="4150436" y="4358501"/>
            <a:ext cx="2628328" cy="36004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상세주소 입력창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4" name=""/>
          <p:cNvSpPr/>
          <p:nvPr/>
        </p:nvSpPr>
        <p:spPr>
          <a:xfrm>
            <a:off x="4298700" y="2197843"/>
            <a:ext cx="2304288" cy="2938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주소 검색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5" name=""/>
          <p:cNvSpPr/>
          <p:nvPr/>
        </p:nvSpPr>
        <p:spPr>
          <a:xfrm>
            <a:off x="4307323" y="5340719"/>
            <a:ext cx="2350850" cy="2938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추가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6" name=""/>
          <p:cNvSpPr/>
          <p:nvPr/>
        </p:nvSpPr>
        <p:spPr>
          <a:xfrm>
            <a:off x="3204456" y="2588431"/>
            <a:ext cx="206310" cy="210639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x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28" name=""/>
          <p:cNvSpPr/>
          <p:nvPr/>
        </p:nvSpPr>
        <p:spPr>
          <a:xfrm>
            <a:off x="3204456" y="3210877"/>
            <a:ext cx="206310" cy="210639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x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0" name=""/>
          <p:cNvSpPr/>
          <p:nvPr/>
        </p:nvSpPr>
        <p:spPr>
          <a:xfrm>
            <a:off x="3193862" y="3822382"/>
            <a:ext cx="206310" cy="210639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x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2" name="타원 83"/>
          <p:cNvSpPr/>
          <p:nvPr/>
        </p:nvSpPr>
        <p:spPr>
          <a:xfrm>
            <a:off x="3339328" y="251699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3" name="타원 83"/>
          <p:cNvSpPr/>
          <p:nvPr/>
        </p:nvSpPr>
        <p:spPr>
          <a:xfrm>
            <a:off x="3050986" y="526928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4" name="타원 83"/>
          <p:cNvSpPr/>
          <p:nvPr/>
        </p:nvSpPr>
        <p:spPr>
          <a:xfrm>
            <a:off x="6531550" y="526928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6" name=""/>
          <p:cNvSpPr/>
          <p:nvPr/>
        </p:nvSpPr>
        <p:spPr>
          <a:xfrm>
            <a:off x="4157324" y="2729755"/>
            <a:ext cx="2628328" cy="360045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배송지 별명 입력창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7" name="타원 83"/>
          <p:cNvSpPr/>
          <p:nvPr/>
        </p:nvSpPr>
        <p:spPr>
          <a:xfrm>
            <a:off x="6531550" y="213592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14.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마이 리뷰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14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242850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사용자가 담아 놓은 장바구니 관리 페이지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내 리뷰 삭제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리뷰 상세보기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7" name="Shape 434"/>
          <p:cNvSpPr/>
          <p:nvPr/>
        </p:nvSpPr>
        <p:spPr>
          <a:xfrm>
            <a:off x="513934" y="1123602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88" name="타원 50"/>
          <p:cNvSpPr/>
          <p:nvPr/>
        </p:nvSpPr>
        <p:spPr>
          <a:xfrm>
            <a:off x="1347153" y="1268759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1" name=""/>
          <p:cNvSpPr/>
          <p:nvPr/>
        </p:nvSpPr>
        <p:spPr>
          <a:xfrm>
            <a:off x="524496" y="5825449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292" name=""/>
          <p:cNvGraphicFramePr>
            <a:graphicFrameLocks noGrp="1"/>
          </p:cNvGraphicFramePr>
          <p:nvPr/>
        </p:nvGraphicFramePr>
        <p:xfrm>
          <a:off x="513933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8" name=""/>
          <p:cNvSpPr/>
          <p:nvPr/>
        </p:nvSpPr>
        <p:spPr>
          <a:xfrm>
            <a:off x="513933" y="2022747"/>
            <a:ext cx="2896833" cy="380270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6" name=""/>
          <p:cNvSpPr/>
          <p:nvPr/>
        </p:nvSpPr>
        <p:spPr>
          <a:xfrm>
            <a:off x="619746" y="2693751"/>
            <a:ext cx="2700337" cy="3960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리뷰 </a:t>
            </a:r>
            <a:r>
              <a:rPr lang="en-US" altLang="ko-KR" sz="1100">
                <a:solidFill>
                  <a:schemeClr val="dk1"/>
                </a:solidFill>
              </a:rPr>
              <a:t>1</a:t>
            </a:r>
            <a:endParaRPr lang="en-US" altLang="ko-KR" sz="1100">
              <a:solidFill>
                <a:schemeClr val="dk1"/>
              </a:solidFill>
            </a:endParaRPr>
          </a:p>
        </p:txBody>
      </p:sp>
      <p:sp>
        <p:nvSpPr>
          <p:cNvPr id="307" name=""/>
          <p:cNvSpPr/>
          <p:nvPr/>
        </p:nvSpPr>
        <p:spPr>
          <a:xfrm>
            <a:off x="604940" y="3320553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리뷰 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8" name=""/>
          <p:cNvSpPr/>
          <p:nvPr/>
        </p:nvSpPr>
        <p:spPr>
          <a:xfrm>
            <a:off x="623990" y="3893820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리뷰 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3</a:t>
            </a:r>
            <a:endPara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2" name=""/>
          <p:cNvSpPr/>
          <p:nvPr/>
        </p:nvSpPr>
        <p:spPr>
          <a:xfrm>
            <a:off x="799086" y="2207367"/>
            <a:ext cx="2304288" cy="28803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리뷰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316" name="Shape 434"/>
          <p:cNvSpPr/>
          <p:nvPr/>
        </p:nvSpPr>
        <p:spPr>
          <a:xfrm>
            <a:off x="4023073" y="1123604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17" name="타원 50"/>
          <p:cNvSpPr/>
          <p:nvPr/>
        </p:nvSpPr>
        <p:spPr>
          <a:xfrm>
            <a:off x="4856292" y="1268761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8" name=""/>
          <p:cNvSpPr/>
          <p:nvPr/>
        </p:nvSpPr>
        <p:spPr>
          <a:xfrm>
            <a:off x="4033635" y="5825450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19" name=""/>
          <p:cNvGraphicFramePr>
            <a:graphicFrameLocks noGrp="1"/>
          </p:cNvGraphicFramePr>
          <p:nvPr/>
        </p:nvGraphicFramePr>
        <p:xfrm>
          <a:off x="4023072" y="5825451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20" name=""/>
          <p:cNvSpPr/>
          <p:nvPr/>
        </p:nvSpPr>
        <p:spPr>
          <a:xfrm>
            <a:off x="4023072" y="2022749"/>
            <a:ext cx="2896833" cy="380270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6" name=""/>
          <p:cNvSpPr/>
          <p:nvPr/>
        </p:nvSpPr>
        <p:spPr>
          <a:xfrm>
            <a:off x="3204456" y="2588431"/>
            <a:ext cx="206310" cy="210639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x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28" name=""/>
          <p:cNvSpPr/>
          <p:nvPr/>
        </p:nvSpPr>
        <p:spPr>
          <a:xfrm>
            <a:off x="3204456" y="3210877"/>
            <a:ext cx="206310" cy="210639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x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0" name=""/>
          <p:cNvSpPr/>
          <p:nvPr/>
        </p:nvSpPr>
        <p:spPr>
          <a:xfrm>
            <a:off x="3193862" y="3822382"/>
            <a:ext cx="206310" cy="210639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x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32" name="타원 83"/>
          <p:cNvSpPr/>
          <p:nvPr/>
        </p:nvSpPr>
        <p:spPr>
          <a:xfrm>
            <a:off x="3339328" y="251699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40" name=""/>
          <p:cNvSpPr/>
          <p:nvPr/>
        </p:nvSpPr>
        <p:spPr>
          <a:xfrm>
            <a:off x="4235886" y="2207367"/>
            <a:ext cx="2471205" cy="340528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41" name=""/>
          <p:cNvSpPr/>
          <p:nvPr/>
        </p:nvSpPr>
        <p:spPr>
          <a:xfrm>
            <a:off x="4378762" y="2946594"/>
            <a:ext cx="2158022" cy="964811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400"/>
              <a:t>이미지</a:t>
            </a:r>
            <a:endParaRPr lang="ko-KR" altLang="en-US" sz="1400"/>
          </a:p>
        </p:txBody>
      </p:sp>
      <p:sp>
        <p:nvSpPr>
          <p:cNvPr id="342" name=""/>
          <p:cNvSpPr/>
          <p:nvPr/>
        </p:nvSpPr>
        <p:spPr>
          <a:xfrm>
            <a:off x="4378762" y="4091844"/>
            <a:ext cx="2158022" cy="66082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400">
                <a:solidFill>
                  <a:schemeClr val="dk1"/>
                </a:solidFill>
              </a:rPr>
              <a:t>점수</a:t>
            </a:r>
            <a:endParaRPr lang="ko-KR" altLang="en-US" sz="14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400">
                <a:solidFill>
                  <a:schemeClr val="dk1"/>
                </a:solidFill>
              </a:rPr>
              <a:t>리뷰내용</a:t>
            </a:r>
            <a:endParaRPr lang="ko-KR" altLang="en-US" sz="1400">
              <a:solidFill>
                <a:schemeClr val="dk1"/>
              </a:solidFill>
            </a:endParaRPr>
          </a:p>
        </p:txBody>
      </p:sp>
      <p:sp>
        <p:nvSpPr>
          <p:cNvPr id="343" name=""/>
          <p:cNvSpPr/>
          <p:nvPr/>
        </p:nvSpPr>
        <p:spPr>
          <a:xfrm>
            <a:off x="4378762" y="2264517"/>
            <a:ext cx="2158022" cy="58854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상품명</a:t>
            </a:r>
            <a:endParaRPr lang="ko-KR" altLang="en-US" sz="13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	날짜</a:t>
            </a:r>
            <a:endParaRPr lang="ko-KR" altLang="en-US" sz="1300">
              <a:solidFill>
                <a:schemeClr val="dk1"/>
              </a:solidFill>
            </a:endParaRPr>
          </a:p>
        </p:txBody>
      </p:sp>
      <p:cxnSp>
        <p:nvCxnSpPr>
          <p:cNvPr id="344" name=""/>
          <p:cNvCxnSpPr/>
          <p:nvPr/>
        </p:nvCxnSpPr>
        <p:spPr>
          <a:xfrm flipV="1">
            <a:off x="2990242" y="2351385"/>
            <a:ext cx="1043393" cy="595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"/>
          <p:cNvSpPr/>
          <p:nvPr/>
        </p:nvSpPr>
        <p:spPr>
          <a:xfrm>
            <a:off x="4378762" y="4752673"/>
            <a:ext cx="2158022" cy="66082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리뷰답변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7" name="타원 83"/>
          <p:cNvSpPr/>
          <p:nvPr/>
        </p:nvSpPr>
        <p:spPr>
          <a:xfrm>
            <a:off x="3951634" y="195131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15.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공지사항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15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191329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사용자가 담아 놓은 장바구니 관리 페이지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공지사항 상세보기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7" name="Shape 434"/>
          <p:cNvSpPr/>
          <p:nvPr/>
        </p:nvSpPr>
        <p:spPr>
          <a:xfrm>
            <a:off x="513934" y="1123602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88" name="타원 50"/>
          <p:cNvSpPr/>
          <p:nvPr/>
        </p:nvSpPr>
        <p:spPr>
          <a:xfrm>
            <a:off x="1347153" y="1268759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1" name=""/>
          <p:cNvSpPr/>
          <p:nvPr/>
        </p:nvSpPr>
        <p:spPr>
          <a:xfrm>
            <a:off x="524496" y="5825449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292" name=""/>
          <p:cNvGraphicFramePr>
            <a:graphicFrameLocks noGrp="1"/>
          </p:cNvGraphicFramePr>
          <p:nvPr/>
        </p:nvGraphicFramePr>
        <p:xfrm>
          <a:off x="513933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8" name=""/>
          <p:cNvSpPr/>
          <p:nvPr/>
        </p:nvSpPr>
        <p:spPr>
          <a:xfrm>
            <a:off x="513933" y="2022747"/>
            <a:ext cx="2896833" cy="380270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6" name=""/>
          <p:cNvSpPr/>
          <p:nvPr/>
        </p:nvSpPr>
        <p:spPr>
          <a:xfrm>
            <a:off x="619746" y="2693751"/>
            <a:ext cx="2700337" cy="3960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공지사항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307" name=""/>
          <p:cNvSpPr/>
          <p:nvPr/>
        </p:nvSpPr>
        <p:spPr>
          <a:xfrm>
            <a:off x="604940" y="3320553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공지사항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8" name=""/>
          <p:cNvSpPr/>
          <p:nvPr/>
        </p:nvSpPr>
        <p:spPr>
          <a:xfrm>
            <a:off x="623990" y="3893820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공지사항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2" name=""/>
          <p:cNvSpPr/>
          <p:nvPr/>
        </p:nvSpPr>
        <p:spPr>
          <a:xfrm>
            <a:off x="799086" y="2207367"/>
            <a:ext cx="2304288" cy="28803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공지사항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316" name="Shape 434"/>
          <p:cNvSpPr/>
          <p:nvPr/>
        </p:nvSpPr>
        <p:spPr>
          <a:xfrm>
            <a:off x="4023073" y="1123604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17" name="타원 50"/>
          <p:cNvSpPr/>
          <p:nvPr/>
        </p:nvSpPr>
        <p:spPr>
          <a:xfrm>
            <a:off x="4856292" y="1268761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8" name=""/>
          <p:cNvSpPr/>
          <p:nvPr/>
        </p:nvSpPr>
        <p:spPr>
          <a:xfrm>
            <a:off x="4033635" y="5825450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19" name=""/>
          <p:cNvGraphicFramePr>
            <a:graphicFrameLocks noGrp="1"/>
          </p:cNvGraphicFramePr>
          <p:nvPr/>
        </p:nvGraphicFramePr>
        <p:xfrm>
          <a:off x="4023072" y="5825451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20" name=""/>
          <p:cNvSpPr/>
          <p:nvPr/>
        </p:nvSpPr>
        <p:spPr>
          <a:xfrm>
            <a:off x="4023072" y="2022749"/>
            <a:ext cx="2896833" cy="380270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0" name=""/>
          <p:cNvSpPr/>
          <p:nvPr/>
        </p:nvSpPr>
        <p:spPr>
          <a:xfrm>
            <a:off x="4235886" y="2207367"/>
            <a:ext cx="2471205" cy="340528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41" name=""/>
          <p:cNvSpPr/>
          <p:nvPr/>
        </p:nvSpPr>
        <p:spPr>
          <a:xfrm>
            <a:off x="4378762" y="2946594"/>
            <a:ext cx="2158022" cy="1145250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400"/>
              <a:t>이미지</a:t>
            </a:r>
            <a:endParaRPr lang="en-US" altLang="ko-KR" sz="1400"/>
          </a:p>
        </p:txBody>
      </p:sp>
      <p:sp>
        <p:nvSpPr>
          <p:cNvPr id="342" name=""/>
          <p:cNvSpPr/>
          <p:nvPr/>
        </p:nvSpPr>
        <p:spPr>
          <a:xfrm>
            <a:off x="4378762" y="4091844"/>
            <a:ext cx="2158022" cy="107176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400">
                <a:solidFill>
                  <a:schemeClr val="dk1"/>
                </a:solidFill>
              </a:rPr>
              <a:t>공지사항 내용</a:t>
            </a:r>
            <a:endParaRPr lang="ko-KR" altLang="en-US" sz="1400">
              <a:solidFill>
                <a:schemeClr val="dk1"/>
              </a:solidFill>
            </a:endParaRPr>
          </a:p>
        </p:txBody>
      </p:sp>
      <p:sp>
        <p:nvSpPr>
          <p:cNvPr id="343" name=""/>
          <p:cNvSpPr/>
          <p:nvPr/>
        </p:nvSpPr>
        <p:spPr>
          <a:xfrm>
            <a:off x="4378762" y="2264517"/>
            <a:ext cx="2158022" cy="58854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공지사항 제목</a:t>
            </a:r>
            <a:endParaRPr lang="ko-KR" altLang="en-US" sz="13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	날짜</a:t>
            </a:r>
            <a:endParaRPr lang="ko-KR" altLang="en-US" sz="1300">
              <a:solidFill>
                <a:schemeClr val="dk1"/>
              </a:solidFill>
            </a:endParaRPr>
          </a:p>
        </p:txBody>
      </p:sp>
      <p:cxnSp>
        <p:nvCxnSpPr>
          <p:cNvPr id="344" name=""/>
          <p:cNvCxnSpPr/>
          <p:nvPr/>
        </p:nvCxnSpPr>
        <p:spPr>
          <a:xfrm flipV="1">
            <a:off x="2990242" y="2351385"/>
            <a:ext cx="1043393" cy="595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타원 83"/>
          <p:cNvSpPr/>
          <p:nvPr/>
        </p:nvSpPr>
        <p:spPr>
          <a:xfrm>
            <a:off x="3951634" y="195131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15.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문의하기</a:t>
            </a:r>
            <a:endParaRPr lang="ko-KR" altLang="en-US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17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0058" y="404664"/>
            <a:ext cx="4392488" cy="39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ko-KR" altLang="en-US" sz="1100">
                <a:latin typeface="+mn-ea"/>
              </a:rPr>
              <a:t>로그인</a:t>
            </a:r>
            <a:endParaRPr lang="ko-KR" altLang="en-US" sz="1100">
              <a:latin typeface="+mn-ea"/>
            </a:endParaRPr>
          </a:p>
          <a:p>
            <a:pPr algn="r">
              <a:lnSpc>
                <a:spcPct val="90000"/>
              </a:lnSpc>
              <a:defRPr/>
            </a:pPr>
            <a:r>
              <a:rPr lang="en-US" altLang="ko-KR" sz="1100" b="1">
                <a:latin typeface="+mn-ea"/>
              </a:rPr>
              <a:t>161116</a:t>
            </a:r>
            <a:endParaRPr lang="ko-KR" altLang="en-US" sz="1100" b="1">
              <a:latin typeface="+mn-ea"/>
            </a:endParaRPr>
          </a:p>
        </p:txBody>
      </p:sp>
      <p:graphicFrame>
        <p:nvGraphicFramePr>
          <p:cNvPr id="106" name=""/>
          <p:cNvGraphicFramePr>
            <a:graphicFrameLocks noGrp="1"/>
          </p:cNvGraphicFramePr>
          <p:nvPr/>
        </p:nvGraphicFramePr>
        <p:xfrm>
          <a:off x="7984818" y="1123603"/>
          <a:ext cx="3850930" cy="44182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686725"/>
                <a:gridCol w="3164205"/>
              </a:tblGrid>
              <a:tr h="334235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사용자가 담아 놓은 장바구니 관리 페이지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1d1d1"/>
                    </a:solidFill>
                  </a:tcPr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1521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답변 여부 확인 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답변 시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답변 내용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미 답변 시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 “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답변 대기중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”-&gt;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출렦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75819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문의 분류 선택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분류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상품 문의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분류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이용 문의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분류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기타 문의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02724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파일 첨부시 파일 명 출력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9296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버튼 클릭 후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“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작성 완료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”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알림 창 후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마이페이지 홈 으로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7" name="Shape 434"/>
          <p:cNvSpPr/>
          <p:nvPr/>
        </p:nvSpPr>
        <p:spPr>
          <a:xfrm>
            <a:off x="513934" y="1123602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88" name="타원 50"/>
          <p:cNvSpPr/>
          <p:nvPr/>
        </p:nvSpPr>
        <p:spPr>
          <a:xfrm>
            <a:off x="1347153" y="1268759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1" name=""/>
          <p:cNvSpPr/>
          <p:nvPr/>
        </p:nvSpPr>
        <p:spPr>
          <a:xfrm>
            <a:off x="524496" y="5825449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292" name=""/>
          <p:cNvGraphicFramePr>
            <a:graphicFrameLocks noGrp="1"/>
          </p:cNvGraphicFramePr>
          <p:nvPr/>
        </p:nvGraphicFramePr>
        <p:xfrm>
          <a:off x="513933" y="5825450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8" name=""/>
          <p:cNvSpPr/>
          <p:nvPr/>
        </p:nvSpPr>
        <p:spPr>
          <a:xfrm>
            <a:off x="513933" y="2022747"/>
            <a:ext cx="2896833" cy="380270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6" name=""/>
          <p:cNvSpPr/>
          <p:nvPr/>
        </p:nvSpPr>
        <p:spPr>
          <a:xfrm>
            <a:off x="619746" y="2693751"/>
            <a:ext cx="2700337" cy="3960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내 문의 </a:t>
            </a:r>
            <a:r>
              <a:rPr lang="en-US" altLang="ko-KR" sz="1100">
                <a:solidFill>
                  <a:schemeClr val="dk1"/>
                </a:solidFill>
              </a:rPr>
              <a:t>1</a:t>
            </a:r>
            <a:endParaRPr lang="en-US" altLang="ko-KR" sz="1100">
              <a:solidFill>
                <a:schemeClr val="dk1"/>
              </a:solidFill>
            </a:endParaRPr>
          </a:p>
        </p:txBody>
      </p:sp>
      <p:sp>
        <p:nvSpPr>
          <p:cNvPr id="312" name=""/>
          <p:cNvSpPr/>
          <p:nvPr/>
        </p:nvSpPr>
        <p:spPr>
          <a:xfrm>
            <a:off x="799086" y="2207367"/>
            <a:ext cx="2304288" cy="28803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내 문의 목록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316" name="Shape 434"/>
          <p:cNvSpPr/>
          <p:nvPr/>
        </p:nvSpPr>
        <p:spPr>
          <a:xfrm>
            <a:off x="4023073" y="1123604"/>
            <a:ext cx="2908790" cy="5152103"/>
          </a:xfrm>
          <a:prstGeom prst="rect">
            <a:avLst/>
          </a:prstGeom>
          <a:ln>
            <a:solidFill>
              <a:srgbClr val="000000">
                <a:alpha val="100000"/>
              </a:srgbClr>
            </a:solidFill>
          </a:ln>
        </p:spPr>
        <p:txBody>
          <a:bodyPr lIns="45324" tIns="45324" rIns="45324" bIns="45324"/>
          <a:p>
            <a:pPr marL="0" indent="0" algn="ctr" defTabSz="906145" rtl="0" eaLnBrk="1" latinLnBrk="0" hangingPunct="0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  <a:defRPr sz="700" b="1">
                <a:latin typeface="Wingdings"/>
                <a:ea typeface="Wingdings"/>
                <a:cs typeface="Wingdings"/>
                <a:sym typeface="Wingdings"/>
              </a:defRPr>
            </a:pPr>
            <a:endParaRPr xmlns:mc="http://schemas.openxmlformats.org/markup-compatibility/2006" xmlns:hp="http://schemas.haansoft.com/office/presentation/8.0" kumimoji="0" sz="7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17" name="타원 50"/>
          <p:cNvSpPr/>
          <p:nvPr/>
        </p:nvSpPr>
        <p:spPr>
          <a:xfrm>
            <a:off x="4856292" y="1268761"/>
            <a:ext cx="1239708" cy="628317"/>
          </a:xfrm>
          <a:prstGeom prst="ellipse">
            <a:avLst/>
          </a:prstGeom>
          <a:noFill/>
          <a:ln w="3175" cap="flat" cmpd="sng" algn="ctr">
            <a:solidFill>
              <a:srgbClr val="bfbfbf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로고</a:t>
            </a:r>
            <a:endParaRPr xmlns:mc="http://schemas.openxmlformats.org/markup-compatibility/2006" xmlns:hp="http://schemas.haansoft.com/office/presentation/8.0" kumimoji="0" lang="ko-KR" altLang="en-US" sz="9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18" name=""/>
          <p:cNvSpPr/>
          <p:nvPr/>
        </p:nvSpPr>
        <p:spPr>
          <a:xfrm>
            <a:off x="4033635" y="5825450"/>
            <a:ext cx="2898228" cy="45025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9be5c8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19" name=""/>
          <p:cNvGraphicFramePr>
            <a:graphicFrameLocks noGrp="1"/>
          </p:cNvGraphicFramePr>
          <p:nvPr/>
        </p:nvGraphicFramePr>
        <p:xfrm>
          <a:off x="4023072" y="5825451"/>
          <a:ext cx="2907396" cy="45025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27197"/>
                <a:gridCol w="725805"/>
                <a:gridCol w="727197"/>
                <a:gridCol w="727197"/>
              </a:tblGrid>
              <a:tr h="450256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홈</a:t>
                      </a:r>
                      <a:endParaRPr xmlns:mc="http://schemas.openxmlformats.org/markup-compatibility/2006" xmlns:hp="http://schemas.haansoft.com/office/presentation/8.0" kumimoji="0" lang="en-US" altLang="ko-KR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검색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  <a:ln w="9525">
                            <a:solidFill>
                              <a:srgbClr val="ffffff"/>
                            </a:solidFill>
                          </a:ln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마이</a:t>
                      </a:r>
                      <a:endParaRPr xmlns:mc="http://schemas.openxmlformats.org/markup-compatibility/2006" xmlns:hp="http://schemas.haansoft.com/office/presentation/8.0" kumimoji="0" lang="ko-KR" altLang="en-US" sz="1800" b="1" i="0" u="none" strike="noStrike" kern="1200" cap="none" normalizeH="0" baseline="0" mc:Ignorable="hp" hp:hslEmbossed="0">
                        <a:ln w="9525">
                          <a:solidFill>
                            <a:srgbClr val="ffffff"/>
                          </a:solidFill>
                        </a:ln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>
                    <a:lnL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5400" cap="flat" cmpd="sng" algn="ctr">
                      <a:solidFill>
                        <a:srgbClr val="69d8ad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20" name=""/>
          <p:cNvSpPr/>
          <p:nvPr/>
        </p:nvSpPr>
        <p:spPr>
          <a:xfrm>
            <a:off x="4023072" y="2022749"/>
            <a:ext cx="2896833" cy="380270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0" name=""/>
          <p:cNvSpPr/>
          <p:nvPr/>
        </p:nvSpPr>
        <p:spPr>
          <a:xfrm>
            <a:off x="4235886" y="2207367"/>
            <a:ext cx="2471205" cy="340528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42" name=""/>
          <p:cNvSpPr/>
          <p:nvPr/>
        </p:nvSpPr>
        <p:spPr>
          <a:xfrm>
            <a:off x="4392477" y="3163772"/>
            <a:ext cx="2158022" cy="107176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400">
                <a:solidFill>
                  <a:schemeClr val="dk1"/>
                </a:solidFill>
              </a:rPr>
              <a:t>문의 사항 내용</a:t>
            </a:r>
            <a:endParaRPr lang="ko-KR" altLang="en-US" sz="1400">
              <a:solidFill>
                <a:schemeClr val="dk1"/>
              </a:solidFill>
            </a:endParaRPr>
          </a:p>
        </p:txBody>
      </p:sp>
      <p:sp>
        <p:nvSpPr>
          <p:cNvPr id="348" name=""/>
          <p:cNvSpPr/>
          <p:nvPr/>
        </p:nvSpPr>
        <p:spPr>
          <a:xfrm>
            <a:off x="799085" y="5324619"/>
            <a:ext cx="2304288" cy="288036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문의 하기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349" name=""/>
          <p:cNvCxnSpPr/>
          <p:nvPr/>
        </p:nvCxnSpPr>
        <p:spPr>
          <a:xfrm rot="5400000" flipH="1" flipV="1">
            <a:off x="2004593" y="3450163"/>
            <a:ext cx="3117257" cy="919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"/>
          <p:cNvSpPr/>
          <p:nvPr/>
        </p:nvSpPr>
        <p:spPr>
          <a:xfrm>
            <a:off x="617462" y="3080576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문의 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답변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1" name=""/>
          <p:cNvSpPr/>
          <p:nvPr/>
        </p:nvSpPr>
        <p:spPr>
          <a:xfrm>
            <a:off x="620444" y="3699653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내 문의 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endPara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2" name=""/>
          <p:cNvSpPr/>
          <p:nvPr/>
        </p:nvSpPr>
        <p:spPr>
          <a:xfrm>
            <a:off x="618160" y="4086478"/>
            <a:ext cx="2700337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문의 </a:t>
            </a:r>
            <a:r>
              <a:rPr xmlns:mc="http://schemas.openxmlformats.org/markup-compatibility/2006" xmlns:hp="http://schemas.haansoft.com/office/presentation/8.0" kumimoji="0" lang="en-US" altLang="ko-KR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답변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3" name="타원 83"/>
          <p:cNvSpPr/>
          <p:nvPr/>
        </p:nvSpPr>
        <p:spPr>
          <a:xfrm>
            <a:off x="549006" y="3036898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5" name=""/>
          <p:cNvSpPr/>
          <p:nvPr/>
        </p:nvSpPr>
        <p:spPr>
          <a:xfrm>
            <a:off x="4392478" y="2640849"/>
            <a:ext cx="2158021" cy="3960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문의 분류 선택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6" name=""/>
          <p:cNvSpPr/>
          <p:nvPr/>
        </p:nvSpPr>
        <p:spPr>
          <a:xfrm>
            <a:off x="4403738" y="4482527"/>
            <a:ext cx="2158022" cy="26794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파일 첨부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4392477" y="5190648"/>
            <a:ext cx="2158022" cy="26794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작성하기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8" name="타원 83"/>
          <p:cNvSpPr/>
          <p:nvPr/>
        </p:nvSpPr>
        <p:spPr>
          <a:xfrm>
            <a:off x="4332300" y="264084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9" name="타원 83"/>
          <p:cNvSpPr/>
          <p:nvPr/>
        </p:nvSpPr>
        <p:spPr>
          <a:xfrm>
            <a:off x="4332300" y="441108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60" name="타원 83"/>
          <p:cNvSpPr/>
          <p:nvPr/>
        </p:nvSpPr>
        <p:spPr>
          <a:xfrm>
            <a:off x="4332300" y="511921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300" normalizeH="0" baseline="0" mc:Ignorable="hp" hp:hslEmbossed="0">
                <a:solidFill>
                  <a:srgbClr val="663300"/>
                </a:solidFill>
                <a:latin typeface="Calibri"/>
              </a:rPr>
              <a:t>관리자 페이지 메뉴 정보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300" normalizeH="0" baseline="0" mc:Ignorable="hp" hp:hslEmbossed="0">
              <a:solidFill>
                <a:srgbClr val="663300"/>
              </a:solidFill>
              <a:latin typeface="Calibri"/>
            </a:endParaRPr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354685" y="1072938"/>
          <a:ext cx="11459745" cy="2786261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297430"/>
                <a:gridCol w="2291470"/>
                <a:gridCol w="2291470"/>
                <a:gridCol w="2287905"/>
                <a:gridCol w="2291470"/>
              </a:tblGrid>
              <a:tr h="494546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회원관리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주문관리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공지사항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상품관리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고객 문의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</a:tr>
              <a:tr h="2167952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회원 목록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회원 정보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회원 결제 횟수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회원 사용 금액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회원 배송지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잔여 포인트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쿠폰 내역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기본 정보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주문 내역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주문 정보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전체 주문내역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주문번호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=&gt;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현재 날짜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시간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상품별 주문 내역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기간별 주문 내역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주문 통계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상품별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지역별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글 관리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공지사항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공지사항 작성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공지사항 삭제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공지사항 수정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상품 목록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상품 등록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상품 명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가격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수량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  노출 여부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상품 수정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상품 명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가격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수량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  노출여부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판매중지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상품 삭제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고객 문의 내역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고객문의 목록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고객문의 답변하기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366127" y="3859199"/>
          <a:ext cx="11459745" cy="2662498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2297430"/>
                <a:gridCol w="2291470"/>
                <a:gridCol w="2291470"/>
                <a:gridCol w="2287905"/>
                <a:gridCol w="2291470"/>
              </a:tblGrid>
              <a:tr h="494546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지점관리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0e0e0"/>
                    </a:solidFill>
                  </a:tcPr>
                </a:tc>
              </a:tr>
              <a:tr h="2167952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>
                          <a:solidFill>
                            <a:schemeClr val="dk1"/>
                          </a:solidFill>
                        </a:rPr>
                        <a:t>지점 목록</a:t>
                      </a: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*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지점 정보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지점 위치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카카오 지도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지점 연락처 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지점 관리자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-US" altLang="ko-KR" sz="12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200">
                          <a:solidFill>
                            <a:schemeClr val="dk1"/>
                          </a:solidFill>
                        </a:rPr>
                        <a:t> 지점 전용 아이디</a:t>
                      </a: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2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6956132" cy="36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로그인 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6453859" y="6542033"/>
            <a:ext cx="2625969" cy="365125"/>
          </a:xfrm>
        </p:spPr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19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48002" y="981278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5" name=""/>
          <p:cNvSpPr/>
          <p:nvPr/>
        </p:nvSpPr>
        <p:spPr>
          <a:xfrm>
            <a:off x="348001" y="981278"/>
            <a:ext cx="8785966" cy="74983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6" name=""/>
          <p:cNvSpPr/>
          <p:nvPr/>
        </p:nvSpPr>
        <p:spPr>
          <a:xfrm>
            <a:off x="464596" y="1093348"/>
            <a:ext cx="1631409" cy="516781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</a:t>
            </a:r>
            <a:r>
              <a:rPr lang="en-US" altLang="ko-KR"/>
              <a:t>LOGO</a:t>
            </a:r>
            <a:endParaRPr lang="en-US" altLang="ko-KR"/>
          </a:p>
        </p:txBody>
      </p:sp>
      <p:sp>
        <p:nvSpPr>
          <p:cNvPr id="357" name=""/>
          <p:cNvSpPr/>
          <p:nvPr/>
        </p:nvSpPr>
        <p:spPr>
          <a:xfrm>
            <a:off x="7613413" y="1093348"/>
            <a:ext cx="1327420" cy="25839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날짜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358" name=""/>
          <p:cNvSpPr/>
          <p:nvPr/>
        </p:nvSpPr>
        <p:spPr>
          <a:xfrm>
            <a:off x="2759716" y="2897019"/>
            <a:ext cx="3901196" cy="2512978"/>
          </a:xfrm>
          <a:prstGeom prst="rect">
            <a:avLst/>
          </a:prstGeom>
          <a:solidFill>
            <a:srgbClr val="9be5c8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9" name=""/>
          <p:cNvSpPr/>
          <p:nvPr/>
        </p:nvSpPr>
        <p:spPr>
          <a:xfrm>
            <a:off x="3783146" y="3028748"/>
            <a:ext cx="1793538" cy="40025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관리자 로그인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360" name=""/>
          <p:cNvSpPr/>
          <p:nvPr/>
        </p:nvSpPr>
        <p:spPr>
          <a:xfrm>
            <a:off x="2759716" y="3750632"/>
            <a:ext cx="587712" cy="544738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p>
            <a:pPr algn="ctr">
              <a:defRPr/>
            </a:pPr>
            <a:r>
              <a:rPr lang="en-US" altLang="ko-KR" sz="1300">
                <a:solidFill>
                  <a:schemeClr val="dk1"/>
                </a:solidFill>
              </a:rPr>
              <a:t>ID</a:t>
            </a:r>
            <a:endParaRPr lang="en-US" altLang="ko-KR" sz="1300">
              <a:solidFill>
                <a:schemeClr val="dk1"/>
              </a:solidFill>
            </a:endParaRPr>
          </a:p>
        </p:txBody>
      </p:sp>
      <p:sp>
        <p:nvSpPr>
          <p:cNvPr id="361" name=""/>
          <p:cNvSpPr/>
          <p:nvPr/>
        </p:nvSpPr>
        <p:spPr>
          <a:xfrm>
            <a:off x="2759716" y="4295370"/>
            <a:ext cx="587712" cy="544738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 anchorCtr="1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PW</a:t>
            </a: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2" name=""/>
          <p:cNvSpPr/>
          <p:nvPr/>
        </p:nvSpPr>
        <p:spPr>
          <a:xfrm>
            <a:off x="3347428" y="3750631"/>
            <a:ext cx="2406582" cy="54473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 anchorCtr="1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63" name=""/>
          <p:cNvSpPr/>
          <p:nvPr/>
        </p:nvSpPr>
        <p:spPr>
          <a:xfrm>
            <a:off x="3347428" y="4295370"/>
            <a:ext cx="2406582" cy="544738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 anchorCtr="1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4" name=""/>
          <p:cNvSpPr/>
          <p:nvPr/>
        </p:nvSpPr>
        <p:spPr>
          <a:xfrm>
            <a:off x="5754011" y="3750632"/>
            <a:ext cx="906902" cy="1089476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altLang="ko-KR" sz="1400">
                <a:solidFill>
                  <a:schemeClr val="dk1"/>
                </a:solidFill>
              </a:rPr>
              <a:t>login</a:t>
            </a:r>
            <a:endParaRPr lang="en-US" altLang="ko-KR" sz="1400">
              <a:solidFill>
                <a:schemeClr val="dk1"/>
              </a:solidFill>
            </a:endParaRPr>
          </a:p>
        </p:txBody>
      </p:sp>
      <p:cxnSp>
        <p:nvCxnSpPr>
          <p:cNvPr id="365" name=""/>
          <p:cNvCxnSpPr/>
          <p:nvPr/>
        </p:nvCxnSpPr>
        <p:spPr>
          <a:xfrm flipV="1">
            <a:off x="6660912" y="2116779"/>
            <a:ext cx="2682707" cy="19062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"/>
          <p:cNvSpPr/>
          <p:nvPr/>
        </p:nvSpPr>
        <p:spPr>
          <a:xfrm>
            <a:off x="9343619" y="1372844"/>
            <a:ext cx="2375512" cy="109486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7" name=""/>
          <p:cNvSpPr/>
          <p:nvPr/>
        </p:nvSpPr>
        <p:spPr>
          <a:xfrm>
            <a:off x="9563904" y="2137885"/>
            <a:ext cx="1865560" cy="20063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확인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9" name=""/>
          <p:cNvSpPr/>
          <p:nvPr/>
        </p:nvSpPr>
        <p:spPr>
          <a:xfrm>
            <a:off x="9563904" y="1610130"/>
            <a:ext cx="1865560" cy="38428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로그인에 실패하셨습니다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5" name=""/>
          <p:cNvSpPr/>
          <p:nvPr/>
        </p:nvSpPr>
        <p:spPr>
          <a:xfrm>
            <a:off x="9378310" y="5158986"/>
            <a:ext cx="2375512" cy="109486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6" name=""/>
          <p:cNvSpPr/>
          <p:nvPr/>
        </p:nvSpPr>
        <p:spPr>
          <a:xfrm>
            <a:off x="9598595" y="5924027"/>
            <a:ext cx="1865560" cy="20063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확인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7" name=""/>
          <p:cNvSpPr/>
          <p:nvPr/>
        </p:nvSpPr>
        <p:spPr>
          <a:xfrm>
            <a:off x="9598595" y="5396272"/>
            <a:ext cx="1865560" cy="38428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로그인에 성공하셨습니다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378" name=""/>
          <p:cNvCxnSpPr>
            <a:endCxn id="375" idx="1"/>
          </p:cNvCxnSpPr>
          <p:nvPr/>
        </p:nvCxnSpPr>
        <p:spPr>
          <a:xfrm>
            <a:off x="6660913" y="4295371"/>
            <a:ext cx="2717397" cy="14110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"/>
          <p:cNvCxnSpPr/>
          <p:nvPr/>
        </p:nvCxnSpPr>
        <p:spPr>
          <a:xfrm rot="16200000" flipV="1">
            <a:off x="9438941" y="4625633"/>
            <a:ext cx="1103948" cy="159698"/>
          </a:xfrm>
          <a:prstGeom prst="straightConnector1">
            <a:avLst/>
          </a:prstGeom>
          <a:noFill/>
          <a:ln w="12700" cap="flat" cmpd="sng" algn="ctr">
            <a:solidFill>
              <a:srgbClr val="5e81d9">
                <a:alpha val="100000"/>
              </a:srgbClr>
            </a:solidFill>
            <a:prstDash val="solid"/>
            <a:tailEnd type="arrow"/>
          </a:ln>
        </p:spPr>
      </p:cxnSp>
      <p:sp>
        <p:nvSpPr>
          <p:cNvPr id="380" name=""/>
          <p:cNvSpPr/>
          <p:nvPr/>
        </p:nvSpPr>
        <p:spPr>
          <a:xfrm>
            <a:off x="9343619" y="3559507"/>
            <a:ext cx="2410203" cy="59400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관리자 회원관리 페이지 이동</a:t>
            </a:r>
            <a:endParaRPr lang="ko-KR" altLang="en-US" sz="11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6956132" cy="36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서브 메뉴 틀 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/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 관리자 메인 화면 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18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253634" y="981278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5" name=""/>
          <p:cNvSpPr/>
          <p:nvPr/>
        </p:nvSpPr>
        <p:spPr>
          <a:xfrm>
            <a:off x="3253633" y="981278"/>
            <a:ext cx="8785966" cy="74983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3" name=""/>
          <p:cNvGraphicFramePr>
            <a:graphicFrameLocks noGrp="1"/>
          </p:cNvGraphicFramePr>
          <p:nvPr/>
        </p:nvGraphicFramePr>
        <p:xfrm>
          <a:off x="191322" y="981278"/>
          <a:ext cx="1512188" cy="554468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59754"/>
                <a:gridCol w="1152434"/>
              </a:tblGrid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300">
                          <a:solidFill>
                            <a:schemeClr val="lt1"/>
                          </a:solidFill>
                          <a:effectLst/>
                        </a:rPr>
                        <a:t>메인 메뉴</a:t>
                      </a:r>
                      <a:endParaRPr lang="ko-KR" altLang="en-US" sz="13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1">
                          <a:solidFill>
                            <a:schemeClr val="lt1"/>
                          </a:solidFill>
                        </a:rPr>
                        <a:t>회원관리</a:t>
                      </a: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1">
                          <a:solidFill>
                            <a:schemeClr val="lt1"/>
                          </a:solidFill>
                        </a:rPr>
                        <a:t>주문 관리</a:t>
                      </a: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1">
                          <a:solidFill>
                            <a:schemeClr val="lt1"/>
                          </a:solidFill>
                        </a:rPr>
                        <a:t>공지사항</a:t>
                      </a: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1">
                          <a:solidFill>
                            <a:schemeClr val="lt1"/>
                          </a:solidFill>
                        </a:rPr>
                        <a:t>고객 문의</a:t>
                      </a: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1">
                          <a:solidFill>
                            <a:schemeClr val="lt1"/>
                          </a:solidFill>
                        </a:rPr>
                        <a:t>상품 관리</a:t>
                      </a: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1">
                          <a:solidFill>
                            <a:schemeClr val="lt1"/>
                          </a:solidFill>
                        </a:rPr>
                        <a:t>지점 관리</a:t>
                      </a: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graphicFrame>
        <p:nvGraphicFramePr>
          <p:cNvPr id="354" name=""/>
          <p:cNvGraphicFramePr>
            <a:graphicFrameLocks noGrp="1"/>
          </p:cNvGraphicFramePr>
          <p:nvPr/>
        </p:nvGraphicFramePr>
        <p:xfrm>
          <a:off x="1703511" y="978289"/>
          <a:ext cx="1512188" cy="554468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59754"/>
                <a:gridCol w="1152434"/>
              </a:tblGrid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300">
                          <a:solidFill>
                            <a:schemeClr val="lt1"/>
                          </a:solidFill>
                          <a:effectLst/>
                        </a:rPr>
                        <a:t>서브 메뉴</a:t>
                      </a:r>
                      <a:endParaRPr lang="ko-KR" altLang="en-US" sz="130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62057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en-US" altLang="ko-KR" sz="1300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 anchorCtr="1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69d8ad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978206" y="1097806"/>
            <a:ext cx="1631409" cy="516781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/>
              <a:t> </a:t>
            </a:r>
            <a:r>
              <a:rPr lang="en-US" altLang="ko-KR"/>
              <a:t>LOGO</a:t>
            </a:r>
            <a:endParaRPr lang="en-US" altLang="ko-KR"/>
          </a:p>
        </p:txBody>
      </p:sp>
      <p:sp>
        <p:nvSpPr>
          <p:cNvPr id="357" name=""/>
          <p:cNvSpPr/>
          <p:nvPr/>
        </p:nvSpPr>
        <p:spPr>
          <a:xfrm>
            <a:off x="10519045" y="1093348"/>
            <a:ext cx="1327420" cy="25839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날짜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358" name=""/>
          <p:cNvSpPr/>
          <p:nvPr/>
        </p:nvSpPr>
        <p:spPr>
          <a:xfrm>
            <a:off x="3253634" y="1097806"/>
            <a:ext cx="724572" cy="51678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ㅡ</a:t>
            </a:r>
            <a:endParaRPr lang="ko-KR" altLang="en-US" sz="10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ㅡ</a:t>
            </a:r>
            <a:endParaRPr lang="ko-KR" altLang="en-US" sz="1000">
              <a:solidFill>
                <a:schemeClr val="dk1"/>
              </a:solidFill>
            </a:endParaRPr>
          </a:p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ㅡ</a:t>
            </a:r>
            <a:endParaRPr lang="ko-KR" altLang="en-US" sz="1000">
              <a:solidFill>
                <a:schemeClr val="dk1"/>
              </a:solidFill>
            </a:endParaRPr>
          </a:p>
        </p:txBody>
      </p:sp>
      <p:cxnSp>
        <p:nvCxnSpPr>
          <p:cNvPr id="359" name=""/>
          <p:cNvCxnSpPr/>
          <p:nvPr/>
        </p:nvCxnSpPr>
        <p:spPr>
          <a:xfrm rot="10800000" flipV="1">
            <a:off x="1470295" y="1222543"/>
            <a:ext cx="1894867" cy="133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"/>
          <p:cNvSpPr/>
          <p:nvPr/>
        </p:nvSpPr>
        <p:spPr>
          <a:xfrm>
            <a:off x="3481691" y="1903986"/>
            <a:ext cx="8364774" cy="442811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내용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61" name=""/>
          <p:cNvSpPr/>
          <p:nvPr/>
        </p:nvSpPr>
        <p:spPr>
          <a:xfrm>
            <a:off x="10519045" y="1389838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현재 메뉴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회원관리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19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37707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1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회원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해당 회원 주문내역 리스트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해당 회원 정보수정 페이지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해당 회원 삭제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회원 검색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5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정렬방식 선택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이름순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6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회원 상세정보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1" name=""/>
          <p:cNvSpPr/>
          <p:nvPr/>
        </p:nvSpPr>
        <p:spPr>
          <a:xfrm>
            <a:off x="464564" y="1862248"/>
            <a:ext cx="8466168" cy="467978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63" name=""/>
          <p:cNvSpPr/>
          <p:nvPr/>
        </p:nvSpPr>
        <p:spPr>
          <a:xfrm>
            <a:off x="620470" y="2458003"/>
            <a:ext cx="8177313" cy="128182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65" name=""/>
          <p:cNvSpPr/>
          <p:nvPr/>
        </p:nvSpPr>
        <p:spPr>
          <a:xfrm>
            <a:off x="724364" y="2600287"/>
            <a:ext cx="777674" cy="48596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고유번호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366" name=""/>
          <p:cNvSpPr/>
          <p:nvPr/>
        </p:nvSpPr>
        <p:spPr>
          <a:xfrm>
            <a:off x="1502039" y="2600076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7" name=""/>
          <p:cNvSpPr/>
          <p:nvPr/>
        </p:nvSpPr>
        <p:spPr>
          <a:xfrm>
            <a:off x="2279714" y="2600076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8" name=""/>
          <p:cNvSpPr/>
          <p:nvPr/>
        </p:nvSpPr>
        <p:spPr>
          <a:xfrm>
            <a:off x="3835064" y="2600287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전화번호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9" name=""/>
          <p:cNvSpPr/>
          <p:nvPr/>
        </p:nvSpPr>
        <p:spPr>
          <a:xfrm>
            <a:off x="4612739" y="2600287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포인트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0" name=""/>
          <p:cNvSpPr/>
          <p:nvPr/>
        </p:nvSpPr>
        <p:spPr>
          <a:xfrm>
            <a:off x="3057389" y="2600287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닉네임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1" name=""/>
          <p:cNvSpPr/>
          <p:nvPr/>
        </p:nvSpPr>
        <p:spPr>
          <a:xfrm>
            <a:off x="5390414" y="2600287"/>
            <a:ext cx="1010733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가입일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4" name=""/>
          <p:cNvSpPr/>
          <p:nvPr/>
        </p:nvSpPr>
        <p:spPr>
          <a:xfrm>
            <a:off x="6401147" y="2600287"/>
            <a:ext cx="1010733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최종 접속일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5" name=""/>
          <p:cNvSpPr/>
          <p:nvPr/>
        </p:nvSpPr>
        <p:spPr>
          <a:xfrm>
            <a:off x="7411879" y="2600287"/>
            <a:ext cx="1142460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마지막 주문일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6" name=""/>
          <p:cNvSpPr/>
          <p:nvPr/>
        </p:nvSpPr>
        <p:spPr>
          <a:xfrm>
            <a:off x="724363" y="3086247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구매횟수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7" name=""/>
          <p:cNvSpPr/>
          <p:nvPr/>
        </p:nvSpPr>
        <p:spPr>
          <a:xfrm>
            <a:off x="6123896" y="3313817"/>
            <a:ext cx="1103024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주문내역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8" name=""/>
          <p:cNvSpPr/>
          <p:nvPr/>
        </p:nvSpPr>
        <p:spPr>
          <a:xfrm>
            <a:off x="7226921" y="3313817"/>
            <a:ext cx="663709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9" name="타원 83"/>
          <p:cNvSpPr/>
          <p:nvPr/>
        </p:nvSpPr>
        <p:spPr>
          <a:xfrm>
            <a:off x="6052458" y="324237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80" name="타원 83"/>
          <p:cNvSpPr/>
          <p:nvPr/>
        </p:nvSpPr>
        <p:spPr>
          <a:xfrm>
            <a:off x="7176524" y="324237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81" name=""/>
          <p:cNvSpPr/>
          <p:nvPr/>
        </p:nvSpPr>
        <p:spPr>
          <a:xfrm>
            <a:off x="7890630" y="3313817"/>
            <a:ext cx="663709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Calibri"/>
                <a:ea typeface="맑은 고딕"/>
                <a:cs typeface="맑은 고딕"/>
              </a:rPr>
              <a:t>삭제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2" name="타원 83"/>
          <p:cNvSpPr/>
          <p:nvPr/>
        </p:nvSpPr>
        <p:spPr>
          <a:xfrm>
            <a:off x="7840233" y="324237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83" name=""/>
          <p:cNvSpPr/>
          <p:nvPr/>
        </p:nvSpPr>
        <p:spPr>
          <a:xfrm>
            <a:off x="620470" y="3739825"/>
            <a:ext cx="8177313" cy="128182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4" name=""/>
          <p:cNvSpPr/>
          <p:nvPr/>
        </p:nvSpPr>
        <p:spPr>
          <a:xfrm>
            <a:off x="724364" y="3882109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고유번호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5" name=""/>
          <p:cNvSpPr/>
          <p:nvPr/>
        </p:nvSpPr>
        <p:spPr>
          <a:xfrm>
            <a:off x="1502039" y="3881898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6" name=""/>
          <p:cNvSpPr/>
          <p:nvPr/>
        </p:nvSpPr>
        <p:spPr>
          <a:xfrm>
            <a:off x="2279714" y="3881898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7" name=""/>
          <p:cNvSpPr/>
          <p:nvPr/>
        </p:nvSpPr>
        <p:spPr>
          <a:xfrm>
            <a:off x="3835064" y="3882109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전화번호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8" name=""/>
          <p:cNvSpPr/>
          <p:nvPr/>
        </p:nvSpPr>
        <p:spPr>
          <a:xfrm>
            <a:off x="4612739" y="3882109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포인트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9" name=""/>
          <p:cNvSpPr/>
          <p:nvPr/>
        </p:nvSpPr>
        <p:spPr>
          <a:xfrm>
            <a:off x="3057389" y="3882109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닉네임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0" name=""/>
          <p:cNvSpPr/>
          <p:nvPr/>
        </p:nvSpPr>
        <p:spPr>
          <a:xfrm>
            <a:off x="5390414" y="3882109"/>
            <a:ext cx="1010733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가입일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1" name=""/>
          <p:cNvSpPr/>
          <p:nvPr/>
        </p:nvSpPr>
        <p:spPr>
          <a:xfrm>
            <a:off x="6401147" y="3882109"/>
            <a:ext cx="1010733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최종 접속일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2" name=""/>
          <p:cNvSpPr/>
          <p:nvPr/>
        </p:nvSpPr>
        <p:spPr>
          <a:xfrm>
            <a:off x="7411880" y="3882109"/>
            <a:ext cx="1142460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마지막 주문일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3" name=""/>
          <p:cNvSpPr/>
          <p:nvPr/>
        </p:nvSpPr>
        <p:spPr>
          <a:xfrm>
            <a:off x="724364" y="4368070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구매횟수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4" name=""/>
          <p:cNvSpPr/>
          <p:nvPr/>
        </p:nvSpPr>
        <p:spPr>
          <a:xfrm>
            <a:off x="6123896" y="4595639"/>
            <a:ext cx="1103024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주문내역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5" name=""/>
          <p:cNvSpPr/>
          <p:nvPr/>
        </p:nvSpPr>
        <p:spPr>
          <a:xfrm>
            <a:off x="7226921" y="4595639"/>
            <a:ext cx="663709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6" name="타원 83"/>
          <p:cNvSpPr/>
          <p:nvPr/>
        </p:nvSpPr>
        <p:spPr>
          <a:xfrm>
            <a:off x="6052458" y="452420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97" name="타원 83"/>
          <p:cNvSpPr/>
          <p:nvPr/>
        </p:nvSpPr>
        <p:spPr>
          <a:xfrm>
            <a:off x="7176524" y="452420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98" name=""/>
          <p:cNvSpPr/>
          <p:nvPr/>
        </p:nvSpPr>
        <p:spPr>
          <a:xfrm>
            <a:off x="7890631" y="4595640"/>
            <a:ext cx="663709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Calibri"/>
                <a:ea typeface="맑은 고딕"/>
                <a:cs typeface="맑은 고딕"/>
              </a:rPr>
              <a:t>삭제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9" name="타원 83"/>
          <p:cNvSpPr/>
          <p:nvPr/>
        </p:nvSpPr>
        <p:spPr>
          <a:xfrm>
            <a:off x="7840234" y="4524202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00" name=""/>
          <p:cNvSpPr/>
          <p:nvPr/>
        </p:nvSpPr>
        <p:spPr>
          <a:xfrm>
            <a:off x="620471" y="5021646"/>
            <a:ext cx="8177313" cy="128182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1" name=""/>
          <p:cNvSpPr/>
          <p:nvPr/>
        </p:nvSpPr>
        <p:spPr>
          <a:xfrm>
            <a:off x="724365" y="5163931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고유번호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2" name=""/>
          <p:cNvSpPr/>
          <p:nvPr/>
        </p:nvSpPr>
        <p:spPr>
          <a:xfrm>
            <a:off x="1502040" y="5163720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3" name=""/>
          <p:cNvSpPr/>
          <p:nvPr/>
        </p:nvSpPr>
        <p:spPr>
          <a:xfrm>
            <a:off x="2279715" y="5163720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이름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4" name=""/>
          <p:cNvSpPr/>
          <p:nvPr/>
        </p:nvSpPr>
        <p:spPr>
          <a:xfrm>
            <a:off x="3835065" y="5163931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전화번호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5" name=""/>
          <p:cNvSpPr/>
          <p:nvPr/>
        </p:nvSpPr>
        <p:spPr>
          <a:xfrm>
            <a:off x="4612740" y="5163931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포인트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6" name=""/>
          <p:cNvSpPr/>
          <p:nvPr/>
        </p:nvSpPr>
        <p:spPr>
          <a:xfrm>
            <a:off x="3057390" y="5163931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닉네임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7" name=""/>
          <p:cNvSpPr/>
          <p:nvPr/>
        </p:nvSpPr>
        <p:spPr>
          <a:xfrm>
            <a:off x="5390415" y="5163931"/>
            <a:ext cx="1010733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가입일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8" name=""/>
          <p:cNvSpPr/>
          <p:nvPr/>
        </p:nvSpPr>
        <p:spPr>
          <a:xfrm>
            <a:off x="6401148" y="5163931"/>
            <a:ext cx="1010733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최종 접속일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9" name=""/>
          <p:cNvSpPr/>
          <p:nvPr/>
        </p:nvSpPr>
        <p:spPr>
          <a:xfrm>
            <a:off x="7411880" y="5163931"/>
            <a:ext cx="1142460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마지막 주문일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0" name=""/>
          <p:cNvSpPr/>
          <p:nvPr/>
        </p:nvSpPr>
        <p:spPr>
          <a:xfrm>
            <a:off x="724364" y="5649891"/>
            <a:ext cx="777674" cy="48596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구매횟수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1" name=""/>
          <p:cNvSpPr/>
          <p:nvPr/>
        </p:nvSpPr>
        <p:spPr>
          <a:xfrm>
            <a:off x="6123897" y="5877461"/>
            <a:ext cx="1103024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주문내역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2" name=""/>
          <p:cNvSpPr/>
          <p:nvPr/>
        </p:nvSpPr>
        <p:spPr>
          <a:xfrm>
            <a:off x="7226922" y="5877461"/>
            <a:ext cx="663709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3" name="타원 83"/>
          <p:cNvSpPr/>
          <p:nvPr/>
        </p:nvSpPr>
        <p:spPr>
          <a:xfrm>
            <a:off x="6052459" y="580602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4" name="타원 83"/>
          <p:cNvSpPr/>
          <p:nvPr/>
        </p:nvSpPr>
        <p:spPr>
          <a:xfrm>
            <a:off x="7176525" y="580602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5" name=""/>
          <p:cNvSpPr/>
          <p:nvPr/>
        </p:nvSpPr>
        <p:spPr>
          <a:xfrm>
            <a:off x="7890631" y="5877461"/>
            <a:ext cx="663709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Calibri"/>
                <a:ea typeface="맑은 고딕"/>
                <a:cs typeface="맑은 고딕"/>
              </a:rPr>
              <a:t>삭제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6" name="타원 83"/>
          <p:cNvSpPr/>
          <p:nvPr/>
        </p:nvSpPr>
        <p:spPr>
          <a:xfrm>
            <a:off x="7840234" y="580602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17" name=""/>
          <p:cNvSpPr/>
          <p:nvPr/>
        </p:nvSpPr>
        <p:spPr>
          <a:xfrm>
            <a:off x="1959109" y="1974917"/>
            <a:ext cx="4316649" cy="37492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검색 텍스트 박스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418" name=""/>
          <p:cNvSpPr/>
          <p:nvPr/>
        </p:nvSpPr>
        <p:spPr>
          <a:xfrm>
            <a:off x="6275759" y="1974917"/>
            <a:ext cx="768668" cy="374920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chemeClr val="dk1"/>
                </a:solidFill>
              </a:rPr>
              <a:t>검색</a:t>
            </a:r>
            <a:endParaRPr lang="ko-KR" altLang="en-US" sz="1300">
              <a:solidFill>
                <a:schemeClr val="dk1"/>
              </a:solidFill>
            </a:endParaRPr>
          </a:p>
        </p:txBody>
      </p:sp>
      <p:sp>
        <p:nvSpPr>
          <p:cNvPr id="420" name=""/>
          <p:cNvSpPr/>
          <p:nvPr/>
        </p:nvSpPr>
        <p:spPr>
          <a:xfrm>
            <a:off x="7470364" y="2033182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정렬방식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1" name="타원 83"/>
          <p:cNvSpPr/>
          <p:nvPr/>
        </p:nvSpPr>
        <p:spPr>
          <a:xfrm>
            <a:off x="7415901" y="196174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5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22" name="타원 83"/>
          <p:cNvSpPr/>
          <p:nvPr/>
        </p:nvSpPr>
        <p:spPr>
          <a:xfrm>
            <a:off x="6972989" y="1903479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4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23" name="타원 83"/>
          <p:cNvSpPr/>
          <p:nvPr/>
        </p:nvSpPr>
        <p:spPr>
          <a:xfrm>
            <a:off x="724365" y="2647636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6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cxnSp>
        <p:nvCxnSpPr>
          <p:cNvPr id="424" name=""/>
          <p:cNvCxnSpPr/>
          <p:nvPr/>
        </p:nvCxnSpPr>
        <p:spPr>
          <a:xfrm rot="16200000" flipH="1">
            <a:off x="8320531" y="3806031"/>
            <a:ext cx="1449441" cy="9817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"/>
          <p:cNvSpPr/>
          <p:nvPr/>
        </p:nvSpPr>
        <p:spPr>
          <a:xfrm>
            <a:off x="9498254" y="5040982"/>
            <a:ext cx="2375512" cy="109486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26" name=""/>
          <p:cNvSpPr/>
          <p:nvPr/>
        </p:nvSpPr>
        <p:spPr>
          <a:xfrm>
            <a:off x="9718539" y="5806023"/>
            <a:ext cx="898089" cy="20063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rgbClr val="000000"/>
                </a:solidFill>
              </a:rPr>
              <a:t>삭제</a:t>
            </a:r>
            <a:endParaRPr lang="ko-KR" altLang="en-US" sz="1200">
              <a:solidFill>
                <a:srgbClr val="000000"/>
              </a:solidFill>
            </a:endParaRPr>
          </a:p>
        </p:txBody>
      </p:sp>
      <p:sp>
        <p:nvSpPr>
          <p:cNvPr id="427" name=""/>
          <p:cNvSpPr/>
          <p:nvPr/>
        </p:nvSpPr>
        <p:spPr>
          <a:xfrm>
            <a:off x="10686010" y="5806023"/>
            <a:ext cx="898089" cy="200633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취소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8" name=""/>
          <p:cNvSpPr/>
          <p:nvPr/>
        </p:nvSpPr>
        <p:spPr>
          <a:xfrm>
            <a:off x="9718539" y="5278268"/>
            <a:ext cx="1865560" cy="38428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정말로 삭제하시겠습니까</a:t>
            </a:r>
            <a:endParaRPr lang="ko-KR" altLang="en-US" sz="10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회원상세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20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167588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1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회원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24" name=""/>
          <p:cNvCxnSpPr/>
          <p:nvPr/>
        </p:nvCxnSpPr>
        <p:spPr>
          <a:xfrm rot="16200000" flipH="1">
            <a:off x="7702922" y="3188409"/>
            <a:ext cx="2906488" cy="7599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"/>
          <p:cNvSpPr/>
          <p:nvPr/>
        </p:nvSpPr>
        <p:spPr>
          <a:xfrm>
            <a:off x="9498254" y="5040982"/>
            <a:ext cx="2375512" cy="109486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26" name=""/>
          <p:cNvSpPr/>
          <p:nvPr/>
        </p:nvSpPr>
        <p:spPr>
          <a:xfrm>
            <a:off x="9718539" y="5806023"/>
            <a:ext cx="898089" cy="20063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rgbClr val="000000"/>
                </a:solidFill>
              </a:rPr>
              <a:t>삭제</a:t>
            </a:r>
            <a:endParaRPr lang="ko-KR" altLang="en-US" sz="1200">
              <a:solidFill>
                <a:srgbClr val="000000"/>
              </a:solidFill>
            </a:endParaRPr>
          </a:p>
        </p:txBody>
      </p:sp>
      <p:sp>
        <p:nvSpPr>
          <p:cNvPr id="427" name=""/>
          <p:cNvSpPr/>
          <p:nvPr/>
        </p:nvSpPr>
        <p:spPr>
          <a:xfrm>
            <a:off x="10686010" y="5806023"/>
            <a:ext cx="898089" cy="200633"/>
          </a:xfrm>
          <a:prstGeom prst="rect">
            <a:avLst/>
          </a:prstGeom>
          <a:solidFill>
            <a:schemeClr val="lt1">
              <a:alpha val="100000"/>
            </a:scheme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취소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8" name=""/>
          <p:cNvSpPr/>
          <p:nvPr/>
        </p:nvSpPr>
        <p:spPr>
          <a:xfrm>
            <a:off x="9718539" y="5278268"/>
            <a:ext cx="1865560" cy="38428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000">
                <a:solidFill>
                  <a:schemeClr val="dk1"/>
                </a:solidFill>
              </a:rPr>
              <a:t>정말로 삭제하시겠습니까</a:t>
            </a:r>
            <a:endParaRPr lang="ko-KR" altLang="en-US" sz="1000">
              <a:solidFill>
                <a:schemeClr val="dk1"/>
              </a:solidFill>
            </a:endParaRPr>
          </a:p>
        </p:txBody>
      </p:sp>
      <p:sp>
        <p:nvSpPr>
          <p:cNvPr id="429" name=""/>
          <p:cNvSpPr/>
          <p:nvPr/>
        </p:nvSpPr>
        <p:spPr>
          <a:xfrm>
            <a:off x="7448754" y="1856768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Calibri"/>
                <a:ea typeface="맑은 고딕"/>
                <a:cs typeface="맑은 고딕"/>
              </a:rPr>
              <a:t>삭제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ff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0" name=""/>
          <p:cNvSpPr/>
          <p:nvPr/>
        </p:nvSpPr>
        <p:spPr>
          <a:xfrm>
            <a:off x="558327" y="2248508"/>
            <a:ext cx="8217847" cy="429352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432" name=""/>
          <p:cNvGraphicFramePr>
            <a:graphicFrameLocks noGrp="1"/>
          </p:cNvGraphicFramePr>
          <p:nvPr/>
        </p:nvGraphicFramePr>
        <p:xfrm>
          <a:off x="712886" y="2857121"/>
          <a:ext cx="7932420" cy="14833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44994"/>
                <a:gridCol w="2930741"/>
                <a:gridCol w="973455"/>
                <a:gridCol w="2983230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아이디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아이디 값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이름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이름 값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닉네임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닉네임 값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전화번호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전화번호 값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포인트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보유 포인트 값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가입일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가입일 값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최종접속일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최종접속일 값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구매 횟수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구매 횟수 값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3" name=""/>
          <p:cNvGraphicFramePr>
            <a:graphicFrameLocks noGrp="1"/>
          </p:cNvGraphicFramePr>
          <p:nvPr/>
        </p:nvGraphicFramePr>
        <p:xfrm>
          <a:off x="716696" y="4920877"/>
          <a:ext cx="7928609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32656"/>
                <a:gridCol w="6695953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배송지 닉네임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주소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배송지 닉네임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주소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34" name=""/>
          <p:cNvSpPr/>
          <p:nvPr/>
        </p:nvSpPr>
        <p:spPr>
          <a:xfrm>
            <a:off x="4091221" y="2359970"/>
            <a:ext cx="1266622" cy="3273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rgbClr val="000000"/>
                </a:solidFill>
              </a:rPr>
              <a:t>기본 정보</a:t>
            </a:r>
            <a:endParaRPr lang="ko-KR" altLang="en-US" sz="1300">
              <a:solidFill>
                <a:srgbClr val="000000"/>
              </a:solidFill>
            </a:endParaRPr>
          </a:p>
        </p:txBody>
      </p:sp>
      <p:sp>
        <p:nvSpPr>
          <p:cNvPr id="435" name=""/>
          <p:cNvSpPr/>
          <p:nvPr/>
        </p:nvSpPr>
        <p:spPr>
          <a:xfrm>
            <a:off x="4110271" y="4454991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배송지 목록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회원상세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2)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21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167588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1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회원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회원 상세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=&gt;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내역 양식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회원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0" name=""/>
          <p:cNvSpPr/>
          <p:nvPr/>
        </p:nvSpPr>
        <p:spPr>
          <a:xfrm>
            <a:off x="558327" y="1706516"/>
            <a:ext cx="8217847" cy="481645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432" name=""/>
          <p:cNvGraphicFramePr>
            <a:graphicFrameLocks noGrp="1"/>
          </p:cNvGraphicFramePr>
          <p:nvPr/>
        </p:nvGraphicFramePr>
        <p:xfrm>
          <a:off x="703472" y="2270073"/>
          <a:ext cx="7925528" cy="29667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40130"/>
                <a:gridCol w="2930741"/>
                <a:gridCol w="1163954"/>
                <a:gridCol w="2790703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주문번호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결제 날짜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결제 방식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카드</a:t>
                      </a:r>
                      <a:r>
                        <a:rPr lang="en-US" altLang="ko-KR" sz="1300" b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 무통장</a:t>
                      </a:r>
                      <a:r>
                        <a:rPr lang="en-US" altLang="ko-KR" sz="1300" b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 계좌이체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적립 포인트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결제 금액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사용 포인트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결제 지점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사용 쿠폰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결제 주소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할인 금액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휴대폰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배송비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결제 상품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상품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금액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상품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금액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상품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금액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34" name=""/>
          <p:cNvSpPr/>
          <p:nvPr/>
        </p:nvSpPr>
        <p:spPr>
          <a:xfrm>
            <a:off x="3899755" y="1812789"/>
            <a:ext cx="1266622" cy="3273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rgbClr val="000000"/>
                </a:solidFill>
              </a:rPr>
              <a:t>주문내역</a:t>
            </a:r>
            <a:endParaRPr lang="ko-KR" altLang="en-US" sz="1300">
              <a:solidFill>
                <a:srgbClr val="000000"/>
              </a:solidFill>
            </a:endParaRPr>
          </a:p>
        </p:txBody>
      </p:sp>
      <p:sp>
        <p:nvSpPr>
          <p:cNvPr id="436" name="타원 83"/>
          <p:cNvSpPr/>
          <p:nvPr/>
        </p:nvSpPr>
        <p:spPr>
          <a:xfrm>
            <a:off x="641448" y="219863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주문관리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1)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24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20948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1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상세보기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각 지점 선택시 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지점 관리로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0" name=""/>
          <p:cNvSpPr/>
          <p:nvPr/>
        </p:nvSpPr>
        <p:spPr>
          <a:xfrm>
            <a:off x="558327" y="2248508"/>
            <a:ext cx="8385104" cy="4293524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34" name=""/>
          <p:cNvSpPr/>
          <p:nvPr/>
        </p:nvSpPr>
        <p:spPr>
          <a:xfrm>
            <a:off x="4210657" y="2359970"/>
            <a:ext cx="1266622" cy="3273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rgbClr val="000000"/>
                </a:solidFill>
              </a:rPr>
              <a:t>주문 통계</a:t>
            </a:r>
            <a:endParaRPr lang="ko-KR" altLang="en-US" sz="1300">
              <a:solidFill>
                <a:srgbClr val="000000"/>
              </a:solidFill>
            </a:endParaRPr>
          </a:p>
        </p:txBody>
      </p:sp>
      <p:graphicFrame>
        <p:nvGraphicFramePr>
          <p:cNvPr id="438" name=""/>
          <p:cNvGraphicFramePr>
            <a:graphicFrameLocks noGrp="1"/>
          </p:cNvGraphicFramePr>
          <p:nvPr/>
        </p:nvGraphicFramePr>
        <p:xfrm>
          <a:off x="929172" y="2934335"/>
          <a:ext cx="7628818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92827"/>
                <a:gridCol w="2185655"/>
                <a:gridCol w="2164679"/>
                <a:gridCol w="2185657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일별 통계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주간 통계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월별 통계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금액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금액 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금액 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금액 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0" name=""/>
          <p:cNvGraphicFramePr>
            <a:graphicFrameLocks noGrp="1"/>
          </p:cNvGraphicFramePr>
          <p:nvPr/>
        </p:nvGraphicFramePr>
        <p:xfrm>
          <a:off x="551030" y="4906263"/>
          <a:ext cx="8385101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01165"/>
                <a:gridCol w="1201165"/>
                <a:gridCol w="1201165"/>
                <a:gridCol w="1189637"/>
                <a:gridCol w="1189637"/>
                <a:gridCol w="1201166"/>
                <a:gridCol w="1201166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주문 번호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아이디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금액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결제 수단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결제 지점명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전화번호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주문 상태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1" name=""/>
          <p:cNvGraphicFramePr>
            <a:graphicFrameLocks noGrp="1"/>
          </p:cNvGraphicFramePr>
          <p:nvPr/>
        </p:nvGraphicFramePr>
        <p:xfrm>
          <a:off x="551030" y="5781293"/>
          <a:ext cx="8385101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01165"/>
                <a:gridCol w="1201165"/>
                <a:gridCol w="1201165"/>
                <a:gridCol w="1189637"/>
                <a:gridCol w="1189637"/>
                <a:gridCol w="1201166"/>
                <a:gridCol w="1201166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주문 번호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아이디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금액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결제 수단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결제 지점명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전화번호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주문 상태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43" name="타원 83"/>
          <p:cNvSpPr/>
          <p:nvPr/>
        </p:nvSpPr>
        <p:spPr>
          <a:xfrm>
            <a:off x="479593" y="490626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graphicFrame>
        <p:nvGraphicFramePr>
          <p:cNvPr id="444" name=""/>
          <p:cNvGraphicFramePr>
            <a:graphicFrameLocks noGrp="1"/>
          </p:cNvGraphicFramePr>
          <p:nvPr/>
        </p:nvGraphicFramePr>
        <p:xfrm>
          <a:off x="929172" y="4024430"/>
          <a:ext cx="7628818" cy="741680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092827"/>
                <a:gridCol w="2185655"/>
                <a:gridCol w="2164679"/>
                <a:gridCol w="2185657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지점별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지점명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지점 명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지점 명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금액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월 금액 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월 금액 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월 금액 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45" name="타원 83"/>
          <p:cNvSpPr/>
          <p:nvPr/>
        </p:nvSpPr>
        <p:spPr>
          <a:xfrm>
            <a:off x="857734" y="402443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주문관리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2)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25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167588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1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주문 상세보기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전제 주문내역 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주문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30" name=""/>
          <p:cNvSpPr/>
          <p:nvPr/>
        </p:nvSpPr>
        <p:spPr>
          <a:xfrm>
            <a:off x="558327" y="1706516"/>
            <a:ext cx="8217847" cy="481645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432" name=""/>
          <p:cNvGraphicFramePr>
            <a:graphicFrameLocks noGrp="1"/>
          </p:cNvGraphicFramePr>
          <p:nvPr/>
        </p:nvGraphicFramePr>
        <p:xfrm>
          <a:off x="703472" y="2270073"/>
          <a:ext cx="7925528" cy="25958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40130"/>
                <a:gridCol w="2930741"/>
                <a:gridCol w="1163954"/>
                <a:gridCol w="2790703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주문번호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결제 날짜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결제 방식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카드</a:t>
                      </a:r>
                      <a:r>
                        <a:rPr lang="en-US" altLang="ko-KR" sz="1300" b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 무통장</a:t>
                      </a:r>
                      <a:r>
                        <a:rPr lang="en-US" altLang="ko-KR" sz="1300" b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 계좌이체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적립 포인트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결제 금액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사용 포인트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결제 지점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사용 쿠폰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결제 주소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휴대폰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결제 상품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상품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금액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상품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금액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상품 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 금액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)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34" name=""/>
          <p:cNvSpPr/>
          <p:nvPr/>
        </p:nvSpPr>
        <p:spPr>
          <a:xfrm>
            <a:off x="3899755" y="1812789"/>
            <a:ext cx="1266622" cy="327349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300">
                <a:solidFill>
                  <a:srgbClr val="000000"/>
                </a:solidFill>
              </a:rPr>
              <a:t>주문내역</a:t>
            </a:r>
            <a:endParaRPr lang="ko-KR" altLang="en-US" sz="1300">
              <a:solidFill>
                <a:srgbClr val="000000"/>
              </a:solidFill>
            </a:endParaRPr>
          </a:p>
        </p:txBody>
      </p:sp>
      <p:sp>
        <p:nvSpPr>
          <p:cNvPr id="436" name="타원 83"/>
          <p:cNvSpPr/>
          <p:nvPr/>
        </p:nvSpPr>
        <p:spPr>
          <a:xfrm>
            <a:off x="641448" y="219863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공지사항 관리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9566031" y="6492875"/>
            <a:ext cx="2625969" cy="365125"/>
          </a:xfrm>
        </p:spPr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26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304570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공지사항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공지사항 리스트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클릭 시 수정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962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수정 페이지로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962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삭제 여부 물어본 후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삭제 버튼 클릭시 삭제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공지 사항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1" name=""/>
          <p:cNvGraphicFramePr>
            <a:graphicFrameLocks noGrp="1"/>
          </p:cNvGraphicFramePr>
          <p:nvPr/>
        </p:nvGraphicFramePr>
        <p:xfrm>
          <a:off x="551030" y="2998145"/>
          <a:ext cx="8385936" cy="1112520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201165"/>
                <a:gridCol w="1248929"/>
                <a:gridCol w="4734675"/>
                <a:gridCol w="1201166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게시글 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출력 여부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제목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작성 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체크 박스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내용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62" name="타원 83"/>
          <p:cNvSpPr/>
          <p:nvPr/>
        </p:nvSpPr>
        <p:spPr>
          <a:xfrm>
            <a:off x="479593" y="299814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63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공지 사항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8" name=""/>
          <p:cNvGraphicFramePr>
            <a:graphicFrameLocks noGrp="1"/>
          </p:cNvGraphicFramePr>
          <p:nvPr/>
        </p:nvGraphicFramePr>
        <p:xfrm>
          <a:off x="557493" y="4569162"/>
          <a:ext cx="8385937" cy="1112520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201165"/>
                <a:gridCol w="1238797"/>
                <a:gridCol w="4744808"/>
                <a:gridCol w="1201166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게시글 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출력 여부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제목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작성 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체크박스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내용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69" name="타원 83"/>
          <p:cNvSpPr/>
          <p:nvPr/>
        </p:nvSpPr>
        <p:spPr>
          <a:xfrm>
            <a:off x="486056" y="4569162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70" name=""/>
          <p:cNvSpPr/>
          <p:nvPr/>
        </p:nvSpPr>
        <p:spPr>
          <a:xfrm>
            <a:off x="8279720" y="2746113"/>
            <a:ext cx="663709" cy="252031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100">
                <a:solidFill>
                  <a:schemeClr val="dk1"/>
                </a:solidFill>
              </a:rPr>
              <a:t>삭제</a:t>
            </a:r>
            <a:endParaRPr lang="ko-KR" altLang="en-US" sz="1100">
              <a:solidFill>
                <a:schemeClr val="dk1"/>
              </a:solidFill>
            </a:endParaRPr>
          </a:p>
        </p:txBody>
      </p:sp>
      <p:sp>
        <p:nvSpPr>
          <p:cNvPr id="371" name=""/>
          <p:cNvSpPr/>
          <p:nvPr/>
        </p:nvSpPr>
        <p:spPr>
          <a:xfrm>
            <a:off x="7616011" y="2746113"/>
            <a:ext cx="663709" cy="25203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2" name="타원 83"/>
          <p:cNvSpPr/>
          <p:nvPr/>
        </p:nvSpPr>
        <p:spPr>
          <a:xfrm>
            <a:off x="7544573" y="268205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73" name="타원 83"/>
          <p:cNvSpPr/>
          <p:nvPr/>
        </p:nvSpPr>
        <p:spPr>
          <a:xfrm>
            <a:off x="8208283" y="2682054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74" name=""/>
          <p:cNvSpPr/>
          <p:nvPr/>
        </p:nvSpPr>
        <p:spPr>
          <a:xfrm>
            <a:off x="9498254" y="5040982"/>
            <a:ext cx="2375512" cy="109486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5" name=""/>
          <p:cNvSpPr/>
          <p:nvPr/>
        </p:nvSpPr>
        <p:spPr>
          <a:xfrm>
            <a:off x="9718539" y="5806023"/>
            <a:ext cx="898089" cy="20063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삭제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6" name=""/>
          <p:cNvSpPr/>
          <p:nvPr/>
        </p:nvSpPr>
        <p:spPr>
          <a:xfrm>
            <a:off x="10686010" y="5806023"/>
            <a:ext cx="898089" cy="20063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취소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7" name=""/>
          <p:cNvSpPr/>
          <p:nvPr/>
        </p:nvSpPr>
        <p:spPr>
          <a:xfrm>
            <a:off x="9718539" y="5278268"/>
            <a:ext cx="1865560" cy="38428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정말로 삭제하시겠습니까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378" name=""/>
          <p:cNvCxnSpPr/>
          <p:nvPr/>
        </p:nvCxnSpPr>
        <p:spPr>
          <a:xfrm rot="16200000" flipH="1">
            <a:off x="8243325" y="3565769"/>
            <a:ext cx="2168853" cy="7815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"/>
          <p:cNvSpPr/>
          <p:nvPr/>
        </p:nvSpPr>
        <p:spPr>
          <a:xfrm>
            <a:off x="8279721" y="4317131"/>
            <a:ext cx="663709" cy="25203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삭제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4" name=""/>
          <p:cNvSpPr/>
          <p:nvPr/>
        </p:nvSpPr>
        <p:spPr>
          <a:xfrm>
            <a:off x="7616012" y="4317131"/>
            <a:ext cx="663709" cy="25203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5" name="타원 83"/>
          <p:cNvSpPr/>
          <p:nvPr/>
        </p:nvSpPr>
        <p:spPr>
          <a:xfrm>
            <a:off x="7544574" y="425307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86" name="타원 83"/>
          <p:cNvSpPr/>
          <p:nvPr/>
        </p:nvSpPr>
        <p:spPr>
          <a:xfrm>
            <a:off x="8208284" y="4253071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공지사항 작성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9566031" y="6492875"/>
            <a:ext cx="2625969" cy="365125"/>
          </a:xfrm>
        </p:spPr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27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83794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공지사항 작성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공지 사항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3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공지 사항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3" name=""/>
          <p:cNvSpPr/>
          <p:nvPr/>
        </p:nvSpPr>
        <p:spPr>
          <a:xfrm>
            <a:off x="712886" y="2877196"/>
            <a:ext cx="1177990" cy="36941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제목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384" name=""/>
          <p:cNvSpPr/>
          <p:nvPr/>
        </p:nvSpPr>
        <p:spPr>
          <a:xfrm>
            <a:off x="1890876" y="2877196"/>
            <a:ext cx="6629532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제목 입력 박스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6" name=""/>
          <p:cNvSpPr/>
          <p:nvPr/>
        </p:nvSpPr>
        <p:spPr>
          <a:xfrm>
            <a:off x="7342418" y="2507786"/>
            <a:ext cx="1177990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출력 여부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7" name=""/>
          <p:cNvSpPr/>
          <p:nvPr/>
        </p:nvSpPr>
        <p:spPr>
          <a:xfrm>
            <a:off x="6869952" y="2513656"/>
            <a:ext cx="472466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V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8" name=""/>
          <p:cNvSpPr/>
          <p:nvPr/>
        </p:nvSpPr>
        <p:spPr>
          <a:xfrm>
            <a:off x="712886" y="3246606"/>
            <a:ext cx="7807523" cy="248764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내용 입력 박스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89" name=""/>
          <p:cNvSpPr/>
          <p:nvPr/>
        </p:nvSpPr>
        <p:spPr>
          <a:xfrm>
            <a:off x="7215694" y="5916646"/>
            <a:ext cx="1304714" cy="38505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저장하기</a:t>
            </a:r>
            <a:endParaRPr lang="ko-KR" altLang="en-US" sz="12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공지사항 수정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9566031" y="6492875"/>
            <a:ext cx="2625969" cy="365125"/>
          </a:xfrm>
        </p:spPr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28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837942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공지사항 수정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공지 사항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3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공지 사항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3" name=""/>
          <p:cNvSpPr/>
          <p:nvPr/>
        </p:nvSpPr>
        <p:spPr>
          <a:xfrm>
            <a:off x="712886" y="2877196"/>
            <a:ext cx="1177990" cy="36941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제목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384" name=""/>
          <p:cNvSpPr/>
          <p:nvPr/>
        </p:nvSpPr>
        <p:spPr>
          <a:xfrm>
            <a:off x="1890876" y="2877196"/>
            <a:ext cx="6629532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제목 값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6" name=""/>
          <p:cNvSpPr/>
          <p:nvPr/>
        </p:nvSpPr>
        <p:spPr>
          <a:xfrm>
            <a:off x="7342418" y="2507786"/>
            <a:ext cx="1177990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출력 여부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7" name=""/>
          <p:cNvSpPr/>
          <p:nvPr/>
        </p:nvSpPr>
        <p:spPr>
          <a:xfrm>
            <a:off x="6869952" y="2513656"/>
            <a:ext cx="472466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V</a:t>
            </a:r>
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8" name=""/>
          <p:cNvSpPr/>
          <p:nvPr/>
        </p:nvSpPr>
        <p:spPr>
          <a:xfrm>
            <a:off x="712886" y="3246606"/>
            <a:ext cx="7807523" cy="248764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내용 값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89" name=""/>
          <p:cNvSpPr/>
          <p:nvPr/>
        </p:nvSpPr>
        <p:spPr>
          <a:xfrm>
            <a:off x="7215694" y="5916646"/>
            <a:ext cx="1304714" cy="38505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저장하기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390" name=""/>
          <p:cNvSpPr/>
          <p:nvPr/>
        </p:nvSpPr>
        <p:spPr>
          <a:xfrm>
            <a:off x="5910980" y="5916646"/>
            <a:ext cx="1304714" cy="38505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취소하기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고객문의 관리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29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4276" cy="343240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고객문의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553864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답변 여부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답변 시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답변 완료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미 답변 시 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 답변하기 버튼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62163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문의답변 페이지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 문의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1" name=""/>
          <p:cNvGraphicFramePr>
            <a:graphicFrameLocks noGrp="1"/>
          </p:cNvGraphicFramePr>
          <p:nvPr/>
        </p:nvGraphicFramePr>
        <p:xfrm>
          <a:off x="551030" y="2998145"/>
          <a:ext cx="8385936" cy="1112520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201165"/>
                <a:gridCol w="1177998"/>
                <a:gridCol w="1120980"/>
                <a:gridCol w="3684625"/>
                <a:gridCol w="1201166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문의 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답변 여부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문의 유형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문의 내용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작성 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내용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62" name="타원 83"/>
          <p:cNvSpPr/>
          <p:nvPr/>
        </p:nvSpPr>
        <p:spPr>
          <a:xfrm>
            <a:off x="479593" y="299814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63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고객 문의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1" name=""/>
          <p:cNvSpPr/>
          <p:nvPr/>
        </p:nvSpPr>
        <p:spPr>
          <a:xfrm>
            <a:off x="1890876" y="3739825"/>
            <a:ext cx="815704" cy="324255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답변하기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372" name="타원 83"/>
          <p:cNvSpPr/>
          <p:nvPr/>
        </p:nvSpPr>
        <p:spPr>
          <a:xfrm>
            <a:off x="1819438" y="366838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문의 답변 작성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9566031" y="6492875"/>
            <a:ext cx="2625969" cy="365125"/>
          </a:xfrm>
        </p:spPr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30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문의 답변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3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문의 답변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3" name=""/>
          <p:cNvSpPr/>
          <p:nvPr/>
        </p:nvSpPr>
        <p:spPr>
          <a:xfrm>
            <a:off x="712884" y="4295813"/>
            <a:ext cx="1177990" cy="36941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답글 제목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384" name=""/>
          <p:cNvSpPr/>
          <p:nvPr/>
        </p:nvSpPr>
        <p:spPr>
          <a:xfrm>
            <a:off x="1890875" y="4295813"/>
            <a:ext cx="6629532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문의 답변 제목 입력 박스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8" name=""/>
          <p:cNvSpPr/>
          <p:nvPr/>
        </p:nvSpPr>
        <p:spPr>
          <a:xfrm>
            <a:off x="712885" y="4665223"/>
            <a:ext cx="7807523" cy="1281822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</a:rPr>
              <a:t>내용 입력 박스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389" name=""/>
          <p:cNvSpPr/>
          <p:nvPr/>
        </p:nvSpPr>
        <p:spPr>
          <a:xfrm>
            <a:off x="7215695" y="6061719"/>
            <a:ext cx="1304714" cy="385053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ko-KR" altLang="en-US" sz="1200">
                <a:solidFill>
                  <a:schemeClr val="dk1"/>
                </a:solidFill>
              </a:rPr>
              <a:t>답변하기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396" name=""/>
          <p:cNvSpPr/>
          <p:nvPr/>
        </p:nvSpPr>
        <p:spPr>
          <a:xfrm>
            <a:off x="712884" y="2644581"/>
            <a:ext cx="1177990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문의 내용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7" name=""/>
          <p:cNvSpPr/>
          <p:nvPr/>
        </p:nvSpPr>
        <p:spPr>
          <a:xfrm>
            <a:off x="1890874" y="2644581"/>
            <a:ext cx="6629532" cy="36941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아이디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문의 유형 값 </a:t>
            </a:r>
            <a:r>
              <a: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작성 시간 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8" name=""/>
          <p:cNvSpPr/>
          <p:nvPr/>
        </p:nvSpPr>
        <p:spPr>
          <a:xfrm>
            <a:off x="712884" y="3013991"/>
            <a:ext cx="7807523" cy="1281822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내용 값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99" name="타원 83"/>
          <p:cNvSpPr/>
          <p:nvPr/>
        </p:nvSpPr>
        <p:spPr>
          <a:xfrm>
            <a:off x="570010" y="2573143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400" name="타원 83"/>
          <p:cNvSpPr/>
          <p:nvPr/>
        </p:nvSpPr>
        <p:spPr>
          <a:xfrm>
            <a:off x="641448" y="422437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graphicFrame>
        <p:nvGraphicFramePr>
          <p:cNvPr id="401" name=""/>
          <p:cNvGraphicFramePr>
            <a:graphicFrameLocks noGrp="1"/>
          </p:cNvGraphicFramePr>
          <p:nvPr/>
        </p:nvGraphicFramePr>
        <p:xfrm>
          <a:off x="9400022" y="956677"/>
          <a:ext cx="2514276" cy="2277993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597846"/>
                <a:gridCol w="1916430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문의 답변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수신된 문의 값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상단에 보일 수 있게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596265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답글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3" name=""/>
          <p:cNvSpPr/>
          <p:nvPr/>
        </p:nvSpPr>
        <p:spPr>
          <a:xfrm>
            <a:off x="9498254" y="5040982"/>
            <a:ext cx="2375512" cy="109486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4" name=""/>
          <p:cNvSpPr/>
          <p:nvPr/>
        </p:nvSpPr>
        <p:spPr>
          <a:xfrm>
            <a:off x="9718539" y="5806023"/>
            <a:ext cx="898089" cy="20063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확인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5" name=""/>
          <p:cNvSpPr/>
          <p:nvPr/>
        </p:nvSpPr>
        <p:spPr>
          <a:xfrm>
            <a:off x="10686010" y="5806023"/>
            <a:ext cx="898089" cy="20063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취소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6" name=""/>
          <p:cNvSpPr/>
          <p:nvPr/>
        </p:nvSpPr>
        <p:spPr>
          <a:xfrm>
            <a:off x="9718539" y="5278268"/>
            <a:ext cx="1865560" cy="38428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답변 하시겠습니까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407" name=""/>
          <p:cNvCxnSpPr>
            <a:endCxn id="403" idx="1"/>
          </p:cNvCxnSpPr>
          <p:nvPr/>
        </p:nvCxnSpPr>
        <p:spPr>
          <a:xfrm flipV="1">
            <a:off x="8279722" y="5588417"/>
            <a:ext cx="1218532" cy="5474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상품 관리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31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2982" cy="251382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5136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클릭시 상품 등록으로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클릭시 상품 수정 으로 이동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클릭시 상품 삭제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1" name=""/>
          <p:cNvGraphicFramePr>
            <a:graphicFrameLocks noGrp="1"/>
          </p:cNvGraphicFramePr>
          <p:nvPr/>
        </p:nvGraphicFramePr>
        <p:xfrm>
          <a:off x="422036" y="2743898"/>
          <a:ext cx="8524000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20689"/>
                <a:gridCol w="1220689"/>
                <a:gridCol w="1220689"/>
                <a:gridCol w="1208973"/>
                <a:gridCol w="1211580"/>
                <a:gridCol w="1220690"/>
                <a:gridCol w="1220690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상품 번호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상품명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상품 카테고리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상품 금액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200" b="0">
                          <a:solidFill>
                            <a:schemeClr val="dk1"/>
                          </a:solidFill>
                          <a:effectLst/>
                        </a:rPr>
                        <a:t>상품 판매 여부</a:t>
                      </a:r>
                      <a:endParaRPr lang="ko-KR" altLang="en-US" sz="12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상품 조회 수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  <a:effectLst/>
                        </a:rPr>
                        <a:t>주문 상태</a:t>
                      </a:r>
                      <a:endParaRPr lang="ko-KR" altLang="en-US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  <a:effectLst/>
                        </a:rPr>
                        <a:t>체크박스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 altLang="ko-KR" sz="11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2" name="타원 83"/>
          <p:cNvSpPr/>
          <p:nvPr/>
        </p:nvSpPr>
        <p:spPr>
          <a:xfrm>
            <a:off x="7543412" y="2157227"/>
            <a:ext cx="145198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graphicFrame>
        <p:nvGraphicFramePr>
          <p:cNvPr id="363" name=""/>
          <p:cNvGraphicFramePr>
            <a:graphicFrameLocks noGrp="1"/>
          </p:cNvGraphicFramePr>
          <p:nvPr/>
        </p:nvGraphicFramePr>
        <p:xfrm>
          <a:off x="424358" y="3485578"/>
          <a:ext cx="8528685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21105"/>
                <a:gridCol w="1221105"/>
                <a:gridCol w="1221105"/>
                <a:gridCol w="1211580"/>
                <a:gridCol w="1211580"/>
                <a:gridCol w="1221105"/>
                <a:gridCol w="1221105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썸네일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재고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히트 상품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200" b="0">
                          <a:solidFill>
                            <a:schemeClr val="dk1"/>
                          </a:solidFill>
                        </a:rPr>
                        <a:t>상품 품절 여부</a:t>
                      </a:r>
                      <a:endParaRPr lang="ko-KR" altLang="en-US" sz="12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상품 구매 수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수정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 b="0">
                          <a:solidFill>
                            <a:schemeClr val="dk1"/>
                          </a:solidFill>
                        </a:rPr>
                        <a:t>삭제</a:t>
                      </a:r>
                      <a:endParaRPr lang="ko-KR" altLang="en-US" sz="1300" b="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상품 이미지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체크박스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체크박스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값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버튼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</a:rPr>
                        <a:t>버튼</a:t>
                      </a:r>
                      <a:endParaRPr lang="ko-KR" altLang="en-US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5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9" name=""/>
          <p:cNvGraphicFramePr>
            <a:graphicFrameLocks noGrp="1"/>
          </p:cNvGraphicFramePr>
          <p:nvPr/>
        </p:nvGraphicFramePr>
        <p:xfrm>
          <a:off x="429042" y="4527707"/>
          <a:ext cx="8524000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20689"/>
                <a:gridCol w="1220689"/>
                <a:gridCol w="1220689"/>
                <a:gridCol w="1208973"/>
                <a:gridCol w="1211580"/>
                <a:gridCol w="1220690"/>
                <a:gridCol w="1220690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상품 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상품명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상품 카테고리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상품 금액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상품 판매 여부</a:t>
                      </a:r>
                      <a:endPara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상품 조회 수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주문 상태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r>
                        <a:rPr xmlns:mc="http://schemas.openxmlformats.org/markup-compatibility/2006" xmlns:hp="http://schemas.haansoft.com/office/presentation/8.0" kumimoji="0" lang="en-US" altLang="ko-KR" sz="11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(</a:t>
                      </a:r>
                      <a:r>
                        <a:rPr xmlns:mc="http://schemas.openxmlformats.org/markup-compatibility/2006" xmlns:hp="http://schemas.haansoft.com/office/presentation/8.0" kumimoji="0" lang="ko-KR" altLang="en-US" sz="11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체크박스</a:t>
                      </a:r>
                      <a:r>
                        <a:rPr xmlns:mc="http://schemas.openxmlformats.org/markup-compatibility/2006" xmlns:hp="http://schemas.haansoft.com/office/presentation/8.0" kumimoji="0" lang="en-US" altLang="ko-KR" sz="11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)</a:t>
                      </a:r>
                      <a:endParaRPr xmlns:mc="http://schemas.openxmlformats.org/markup-compatibility/2006" xmlns:hp="http://schemas.haansoft.com/office/presentation/8.0" kumimoji="0" lang="en-US" altLang="ko-KR" sz="11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1" name=""/>
          <p:cNvGraphicFramePr>
            <a:graphicFrameLocks noGrp="1"/>
          </p:cNvGraphicFramePr>
          <p:nvPr/>
        </p:nvGraphicFramePr>
        <p:xfrm>
          <a:off x="431364" y="5269387"/>
          <a:ext cx="8528685" cy="7416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21105"/>
                <a:gridCol w="1221105"/>
                <a:gridCol w="1221105"/>
                <a:gridCol w="1211580"/>
                <a:gridCol w="1211580"/>
                <a:gridCol w="1221105"/>
                <a:gridCol w="1221105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썸네일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재고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히트 상품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품절 여부</a:t>
                      </a:r>
                      <a:endPara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구매 수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수정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삭제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이미지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값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300">
                          <a:solidFill>
                            <a:schemeClr val="dk1"/>
                          </a:solidFill>
                          <a:effectLst/>
                        </a:rPr>
                        <a:t>체크박스</a:t>
                      </a:r>
                      <a:r>
                        <a:rPr lang="en-US" altLang="ko-KR" sz="130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(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체크박스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)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버튼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버튼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72" name="타원 83"/>
          <p:cNvSpPr/>
          <p:nvPr/>
        </p:nvSpPr>
        <p:spPr>
          <a:xfrm>
            <a:off x="6671571" y="3856418"/>
            <a:ext cx="145198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73" name="타원 83"/>
          <p:cNvSpPr/>
          <p:nvPr/>
        </p:nvSpPr>
        <p:spPr>
          <a:xfrm>
            <a:off x="7841784" y="3856418"/>
            <a:ext cx="145198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74" name=""/>
          <p:cNvSpPr/>
          <p:nvPr/>
        </p:nvSpPr>
        <p:spPr>
          <a:xfrm>
            <a:off x="7632630" y="2263144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등록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5" name=""/>
          <p:cNvSpPr/>
          <p:nvPr/>
        </p:nvSpPr>
        <p:spPr>
          <a:xfrm>
            <a:off x="9498254" y="5040982"/>
            <a:ext cx="2375512" cy="109486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6" name=""/>
          <p:cNvSpPr/>
          <p:nvPr/>
        </p:nvSpPr>
        <p:spPr>
          <a:xfrm>
            <a:off x="9718539" y="5806023"/>
            <a:ext cx="898089" cy="20063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삭제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7" name=""/>
          <p:cNvSpPr/>
          <p:nvPr/>
        </p:nvSpPr>
        <p:spPr>
          <a:xfrm>
            <a:off x="10686010" y="5806023"/>
            <a:ext cx="898089" cy="200633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취소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8" name=""/>
          <p:cNvSpPr/>
          <p:nvPr/>
        </p:nvSpPr>
        <p:spPr>
          <a:xfrm>
            <a:off x="9718539" y="5278268"/>
            <a:ext cx="1865560" cy="38428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정말로 삭제하시겠습니까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cxnSp>
        <p:nvCxnSpPr>
          <p:cNvPr id="379" name=""/>
          <p:cNvCxnSpPr/>
          <p:nvPr/>
        </p:nvCxnSpPr>
        <p:spPr>
          <a:xfrm>
            <a:off x="8617854" y="3999295"/>
            <a:ext cx="1251860" cy="10416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"/>
          <p:cNvCxnSpPr/>
          <p:nvPr/>
        </p:nvCxnSpPr>
        <p:spPr>
          <a:xfrm flipV="1">
            <a:off x="8826498" y="5806023"/>
            <a:ext cx="671756" cy="1003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상품 등록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32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2982" cy="20948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5136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등록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등록 양식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등록하기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등록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5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등록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81" name=""/>
          <p:cNvGraphicFramePr>
            <a:graphicFrameLocks noGrp="1"/>
          </p:cNvGraphicFramePr>
          <p:nvPr/>
        </p:nvGraphicFramePr>
        <p:xfrm>
          <a:off x="632034" y="2685948"/>
          <a:ext cx="7925528" cy="25958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40130"/>
                <a:gridCol w="2930741"/>
                <a:gridCol w="1163954"/>
                <a:gridCol w="2790703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현재시간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초까지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)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명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금액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카테고리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썸네일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파일 선택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메인 이미지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파일 선택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미리보기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미리보기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상세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설명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Calibri"/>
                        </a:rPr>
                        <a:t>입력 박스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83" name="타원 83"/>
          <p:cNvSpPr/>
          <p:nvPr/>
        </p:nvSpPr>
        <p:spPr>
          <a:xfrm>
            <a:off x="570010" y="261451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84" name=""/>
          <p:cNvSpPr/>
          <p:nvPr/>
        </p:nvSpPr>
        <p:spPr>
          <a:xfrm>
            <a:off x="7290939" y="5970806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등록하기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5" name="타원 83"/>
          <p:cNvSpPr/>
          <p:nvPr/>
        </p:nvSpPr>
        <p:spPr>
          <a:xfrm>
            <a:off x="7219501" y="5970806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상품 수정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33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2982" cy="209485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5136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수정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등록 양식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상품 등록하기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수정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5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상품 수정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81" name=""/>
          <p:cNvGraphicFramePr>
            <a:graphicFrameLocks noGrp="1"/>
          </p:cNvGraphicFramePr>
          <p:nvPr/>
        </p:nvGraphicFramePr>
        <p:xfrm>
          <a:off x="632034" y="2685948"/>
          <a:ext cx="7925528" cy="25958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40130"/>
                <a:gridCol w="2930741"/>
                <a:gridCol w="1163954"/>
                <a:gridCol w="2790703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명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금액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카테고리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썸네일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파일 선택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메인 이미지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파일 선택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현재 썸네일 미리보기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현재 이미지 미리보기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상품 상세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설명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Calibri"/>
                        </a:rPr>
                        <a:t>입력 박스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83" name="타원 83"/>
          <p:cNvSpPr/>
          <p:nvPr/>
        </p:nvSpPr>
        <p:spPr>
          <a:xfrm>
            <a:off x="570010" y="261451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84" name=""/>
          <p:cNvSpPr/>
          <p:nvPr/>
        </p:nvSpPr>
        <p:spPr>
          <a:xfrm>
            <a:off x="7362622" y="5972555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취소하기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5" name="타원 83"/>
          <p:cNvSpPr/>
          <p:nvPr/>
        </p:nvSpPr>
        <p:spPr>
          <a:xfrm>
            <a:off x="7362622" y="590111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3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88" name=""/>
          <p:cNvSpPr/>
          <p:nvPr/>
        </p:nvSpPr>
        <p:spPr>
          <a:xfrm>
            <a:off x="6091237" y="5972555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수정하기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9" name="타원 83"/>
          <p:cNvSpPr/>
          <p:nvPr/>
        </p:nvSpPr>
        <p:spPr>
          <a:xfrm>
            <a:off x="6000749" y="594398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지점 관리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34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2982" cy="251382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5136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지점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지점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1" name=""/>
          <p:cNvGraphicFramePr>
            <a:graphicFrameLocks noGrp="1"/>
          </p:cNvGraphicFramePr>
          <p:nvPr/>
        </p:nvGraphicFramePr>
        <p:xfrm>
          <a:off x="551030" y="2998145"/>
          <a:ext cx="8385934" cy="11125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01165"/>
                <a:gridCol w="1177998"/>
                <a:gridCol w="1120980"/>
                <a:gridCol w="3684625"/>
                <a:gridCol w="1201166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지점 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오픈 시간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지점 장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주소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생성 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0" tIns="45720" rIns="91440" bIns="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ex)</a:t>
                      </a:r>
                      <a:endPara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09:00</a:t>
                      </a:r>
                      <a:r>
                        <a:rPr xmlns:mc="http://schemas.openxmlformats.org/markup-compatibility/2006" xmlns:hp="http://schemas.haansoft.com/office/presentation/8.0" kumimoji="0" lang="ko-KR" altLang="en-US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~</a:t>
                      </a:r>
                      <a:r>
                        <a:rPr xmlns:mc="http://schemas.openxmlformats.org/markup-compatibility/2006" xmlns:hp="http://schemas.haansoft.com/office/presentation/8.0" kumimoji="0" lang="ko-KR" altLang="en-US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18:00</a:t>
                      </a:r>
                      <a:endPara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0" marR="91440" marB="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이름 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내용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62" name="타원 83"/>
          <p:cNvSpPr/>
          <p:nvPr/>
        </p:nvSpPr>
        <p:spPr>
          <a:xfrm>
            <a:off x="479593" y="2998145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65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지점 관리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6" name=""/>
          <p:cNvGraphicFramePr>
            <a:graphicFrameLocks noGrp="1"/>
          </p:cNvGraphicFramePr>
          <p:nvPr/>
        </p:nvGraphicFramePr>
        <p:xfrm>
          <a:off x="550615" y="4263367"/>
          <a:ext cx="8385934" cy="11125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01165"/>
                <a:gridCol w="1177998"/>
                <a:gridCol w="1120980"/>
                <a:gridCol w="3684625"/>
                <a:gridCol w="1201166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지점 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오픈 시간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지점 장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주소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생성 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9be5c8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0" tIns="45720" rIns="91440" bIns="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ex)</a:t>
                      </a:r>
                      <a:endPara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09:00</a:t>
                      </a:r>
                      <a:r>
                        <a:rPr xmlns:mc="http://schemas.openxmlformats.org/markup-compatibility/2006" xmlns:hp="http://schemas.haansoft.com/office/presentation/8.0" kumimoji="0" lang="ko-KR" altLang="en-US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~</a:t>
                      </a:r>
                      <a:r>
                        <a:rPr xmlns:mc="http://schemas.openxmlformats.org/markup-compatibility/2006" xmlns:hp="http://schemas.haansoft.com/office/presentation/8.0" kumimoji="0" lang="ko-KR" altLang="en-US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18:00</a:t>
                      </a:r>
                      <a:endParaRPr xmlns:mc="http://schemas.openxmlformats.org/markup-compatibility/2006" xmlns:hp="http://schemas.haansoft.com/office/presentation/8.0" kumimoji="0" lang="en-US" altLang="ko-KR" sz="9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0" marR="91440" marB="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이름 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내용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맑은 고딕"/>
                        </a:rPr>
                        <a:t>값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67" name="타원 83"/>
          <p:cNvSpPr/>
          <p:nvPr/>
        </p:nvSpPr>
        <p:spPr>
          <a:xfrm>
            <a:off x="479178" y="426336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68" name=""/>
          <p:cNvSpPr/>
          <p:nvPr/>
        </p:nvSpPr>
        <p:spPr>
          <a:xfrm>
            <a:off x="7616011" y="2392339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지점 추가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703511" y="408640"/>
            <a:ext cx="4392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관리자 페이지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(</a:t>
            </a:r>
            <a:r>
              <a:rPr lang="ko-KR" altLang="en-US" sz="2000" spc="300">
                <a:solidFill>
                  <a:srgbClr val="663300"/>
                </a:solidFill>
                <a:latin typeface="+mn-ea"/>
              </a:rPr>
              <a:t>지점 관리</a:t>
            </a:r>
            <a:r>
              <a:rPr lang="en-US" altLang="ko-KR" sz="2000" spc="300">
                <a:solidFill>
                  <a:srgbClr val="663300"/>
                </a:solidFill>
                <a:latin typeface="+mn-ea"/>
              </a:rPr>
              <a:t>)</a:t>
            </a:r>
            <a:endParaRPr lang="en-US" altLang="ko-KR" sz="2000" spc="300">
              <a:solidFill>
                <a:srgbClr val="663300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2FECCACC-60ED-4580-AB4B-3C07270897C0}" type="slidenum">
              <a:rPr lang="en-US" altLang="en-US">
                <a:latin typeface="나눔고딕"/>
                <a:ea typeface="나눔고딕"/>
              </a:rPr>
              <a:pPr lvl="0">
                <a:defRPr/>
              </a:pPr>
              <a:t>35</a:t>
            </a:fld>
            <a:endParaRPr lang="en-US" altLang="en-US">
              <a:latin typeface="나눔고딕"/>
              <a:ea typeface="나눔고딕"/>
            </a:endParaRPr>
          </a:p>
        </p:txBody>
      </p:sp>
      <p:sp>
        <p:nvSpPr>
          <p:cNvPr id="348" name=""/>
          <p:cNvSpPr/>
          <p:nvPr/>
        </p:nvSpPr>
        <p:spPr>
          <a:xfrm>
            <a:off x="350600" y="956677"/>
            <a:ext cx="8785966" cy="5566296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351" name=""/>
          <p:cNvGraphicFramePr>
            <a:graphicFrameLocks noGrp="1"/>
          </p:cNvGraphicFramePr>
          <p:nvPr/>
        </p:nvGraphicFramePr>
        <p:xfrm>
          <a:off x="9359490" y="971752"/>
          <a:ext cx="2512982" cy="251382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97846"/>
                <a:gridCol w="1915136"/>
              </a:tblGrid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300" b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lang="en-US" altLang="ko-KR" sz="1300" b="0">
                        <a:solidFill>
                          <a:schemeClr val="dk1"/>
                        </a:solidFill>
                        <a:effectLst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100">
                          <a:solidFill>
                            <a:schemeClr val="dk1"/>
                          </a:solidFill>
                        </a:rPr>
                        <a:t>지점 관리</a:t>
                      </a: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 gridSpan="2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300">
                          <a:solidFill>
                            <a:schemeClr val="dk1"/>
                          </a:solidFill>
                        </a:rPr>
                        <a:t>function</a:t>
                      </a:r>
                      <a:endParaRPr lang="en-US" altLang="ko-KR" sz="13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2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418971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</a:rPr>
                        <a:t>3</a:t>
                      </a:r>
                      <a:endParaRPr lang="en-US" altLang="ko-KR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>
                        <a:defRPr/>
                      </a:pPr>
                      <a:endParaRPr lang="ko-KR" altLang="en-US" sz="1100">
                        <a:solidFill>
                          <a:schemeClr val="dk1"/>
                        </a:solidFill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6" name=""/>
          <p:cNvSpPr/>
          <p:nvPr/>
        </p:nvSpPr>
        <p:spPr>
          <a:xfrm>
            <a:off x="350599" y="956677"/>
            <a:ext cx="8785966" cy="74983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7" name=""/>
          <p:cNvSpPr/>
          <p:nvPr/>
        </p:nvSpPr>
        <p:spPr>
          <a:xfrm>
            <a:off x="1075172" y="1073205"/>
            <a:ext cx="1631409" cy="516781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alibri"/>
                <a:ea typeface="맑은 고딕"/>
                <a:cs typeface="Calibri"/>
              </a:rPr>
              <a:t>LOGO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58" name=""/>
          <p:cNvSpPr/>
          <p:nvPr/>
        </p:nvSpPr>
        <p:spPr>
          <a:xfrm>
            <a:off x="7616011" y="106874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날짜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9" name=""/>
          <p:cNvSpPr/>
          <p:nvPr/>
        </p:nvSpPr>
        <p:spPr>
          <a:xfrm>
            <a:off x="350600" y="1073205"/>
            <a:ext cx="724572" cy="516781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ㅡ</a:t>
            </a:r>
            <a:endParaRPr xmlns:mc="http://schemas.openxmlformats.org/markup-compatibility/2006" xmlns:hp="http://schemas.haansoft.com/office/presentation/8.0" kumimoji="0" lang="ko-KR" altLang="en-US" sz="1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0" name=""/>
          <p:cNvSpPr/>
          <p:nvPr/>
        </p:nvSpPr>
        <p:spPr>
          <a:xfrm>
            <a:off x="7616011" y="1365237"/>
            <a:ext cx="1327420" cy="25839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지점 추가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5" name=""/>
          <p:cNvSpPr/>
          <p:nvPr/>
        </p:nvSpPr>
        <p:spPr>
          <a:xfrm>
            <a:off x="4220790" y="2064990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지점 추가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368" name=""/>
          <p:cNvGraphicFramePr>
            <a:graphicFrameLocks noGrp="1"/>
          </p:cNvGraphicFramePr>
          <p:nvPr/>
        </p:nvGraphicFramePr>
        <p:xfrm>
          <a:off x="632034" y="2685948"/>
          <a:ext cx="7925528" cy="25958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40130"/>
                <a:gridCol w="2930741"/>
                <a:gridCol w="1163954"/>
                <a:gridCol w="2790703"/>
              </a:tblGrid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지점 명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지점 관리자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전화번호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지점 전화번호</a:t>
                      </a:r>
                      <a:endPara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휴무일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월화수목금토일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체크 박스</a:t>
                      </a:r>
                      <a:r>
                        <a: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)</a:t>
                      </a:r>
                      <a:endParaRPr xmlns:mc="http://schemas.openxmlformats.org/markup-compatibility/2006" xmlns:hp="http://schemas.haansoft.com/office/presentation/8.0" kumimoji="0" lang="en-US" altLang="ko-KR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영업 시간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지점 이미지</a:t>
                      </a:r>
                      <a:r>
                        <a:rPr xmlns:mc="http://schemas.openxmlformats.org/markup-compatibility/2006" xmlns:hp="http://schemas.haansoft.com/office/presentation/8.0" kumimoji="0" lang="en-US" altLang="ko-KR" sz="12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1</a:t>
                      </a:r>
                      <a:endParaRPr xmlns:mc="http://schemas.openxmlformats.org/markup-compatibility/2006" xmlns:hp="http://schemas.haansoft.com/office/presentation/8.0" kumimoji="0" lang="en-US" altLang="ko-KR" sz="12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파일 선택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지점 이미지</a:t>
                      </a:r>
                      <a:endPara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2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kumimoji="0" lang="en-US" altLang="ko-KR" sz="12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2</a:t>
                      </a:r>
                      <a:endParaRPr xmlns:mc="http://schemas.openxmlformats.org/markup-compatibility/2006" xmlns:hp="http://schemas.haansoft.com/office/presentation/8.0" kumimoji="0" lang="en-US" altLang="ko-KR" sz="12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파일 선택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41680">
                <a:tc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r>
                        <a: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  <a:solidFill>
                            <a:srgbClr val="000000"/>
                          </a:solidFill>
                          <a:latin typeface="Calibri"/>
                          <a:ea typeface="맑은 고딕"/>
                          <a:cs typeface="맑은 고딕"/>
                        </a:rPr>
                        <a:t>주소</a:t>
                      </a: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2b2b2">
                        <a:alpha val="100000"/>
                      </a:srgb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ctr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3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91440" marR="9144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1">
                      <a:spAutoFit/>
                    </a:bodyPr>
                    <a:p>
                      <a:pPr marL="0" algn="l" defTabSz="914400" rtl="0" eaLnBrk="1" latinLnBrk="1" hangingPunct="1">
                        <a:buNone/>
                        <a:defRPr/>
                      </a:pPr>
                      <a:endParaRPr xmlns:mc="http://schemas.openxmlformats.org/markup-compatibility/2006" xmlns:hp="http://schemas.haansoft.com/office/presentation/8.0" kumimoji="0" lang="ko-KR" altLang="en-US" sz="1800" b="0" i="0" u="none" strike="noStrike" kern="1200" cap="none" normalizeH="0" baseline="0" mc:Ignorable="hp" hp:hslEmbossed="0">
                        <a:solidFill>
                          <a:srgbClr val="000000"/>
                        </a:solidFill>
                        <a:latin typeface="Calibri"/>
                        <a:ea typeface="맑은 고딕"/>
                        <a:cs typeface="맑은 고딕"/>
                      </a:endParaRPr>
                    </a:p>
                  </a:txBody>
                  <a:tcPr marL="91440" marR="91440" anchor="ctr" anchorCtr="1"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69" name="타원 83"/>
          <p:cNvSpPr/>
          <p:nvPr/>
        </p:nvSpPr>
        <p:spPr>
          <a:xfrm>
            <a:off x="570010" y="2614510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1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370" name=""/>
          <p:cNvSpPr/>
          <p:nvPr/>
        </p:nvSpPr>
        <p:spPr>
          <a:xfrm>
            <a:off x="7362622" y="5972555"/>
            <a:ext cx="1266622" cy="327349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저장하기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1" name="타원 83"/>
          <p:cNvSpPr/>
          <p:nvPr/>
        </p:nvSpPr>
        <p:spPr>
          <a:xfrm>
            <a:off x="7362622" y="5901117"/>
            <a:ext cx="142876" cy="142876"/>
          </a:xfrm>
          <a:prstGeom prst="ellipse">
            <a:avLst/>
          </a:prstGeom>
          <a:solidFill>
            <a:srgbClr val="fce7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lIns="0" tIns="0" rIns="0" bIns="0"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  <a:solidFill>
                  <a:srgbClr val="663300"/>
                </a:solidFill>
                <a:latin typeface="Calibri"/>
                <a:ea typeface="맑은 고딕"/>
                <a:cs typeface="Calibri"/>
              </a:rPr>
              <a:t>2</a:t>
            </a:r>
            <a:endParaRPr xmlns:mc="http://schemas.openxmlformats.org/markup-compatibility/2006" xmlns:hp="http://schemas.haansoft.com/office/presentation/8.0" kumimoji="0" lang="en-US" altLang="ko-KR" sz="900" b="1" i="0" u="none" strike="noStrike" kern="1200" cap="none" spc="0" normalizeH="0" baseline="0" mc:Ignorable="hp" hp:hslEmbossed="0">
              <a:solidFill>
                <a:srgbClr val="663300"/>
              </a:solidFill>
              <a:latin typeface="Calibri"/>
              <a:ea typeface="맑은 고딕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2306</ep:Words>
  <ep:PresentationFormat>화면 슬라이드 쇼(4:3)</ep:PresentationFormat>
  <ep:Paragraphs>651</ep:Paragraphs>
  <ep:Slides>35</ep:Slides>
  <ep:Notes>35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ep:HeadingPairs>
  <ep:TitlesOfParts>
    <vt:vector size="36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2021-05-22T07:57:19.622</dcterms:created>
  <dc:creator>HighTech</dc:creator>
  <cp:lastModifiedBy>HighTech</cp:lastModifiedBy>
  <dcterms:modified xsi:type="dcterms:W3CDTF">2021-06-14T15:35:36.669</dcterms:modified>
  <cp:revision>390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